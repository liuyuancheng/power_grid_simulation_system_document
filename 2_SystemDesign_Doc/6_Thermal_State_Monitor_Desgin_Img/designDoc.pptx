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"/>
  </p:notesMasterIdLst>
  <p:sldIdLst>
    <p:sldId id="256" r:id="rId2"/>
    <p:sldId id="269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F2FBF22-D265-4007-B382-98D1AEF44D2E}" type="datetimeFigureOut">
              <a:rPr lang="en-SG" smtClean="0"/>
              <a:t>19/6/2026</a:t>
            </a:fld>
            <a:endParaRPr lang="en-S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SG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D9CFC9-68F1-45DE-BFA9-904F85FD4D8B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4494803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2BD866-A9C0-2CFB-9964-FE2A952B32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5E83769-159B-DAC2-81CD-39D131D03A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D70F10-C2C7-9714-165D-F80B7BC9D9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472BC3-F09B-048B-9A07-5FE7398C43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8A4C87-30FF-4E0D-9FFA-CCB73B1DE919}" type="slidenum">
              <a:rPr lang="en-SG" smtClean="0"/>
              <a:t>2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0281832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17DF35-9951-9F00-CA7A-39FA119403F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F899066-101F-52DE-933E-68ABF41213F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FFCC71-91F3-7282-8D87-C1D0E5DD86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6E59C2-7C94-434E-8336-162F25205750}" type="datetimeFigureOut">
              <a:rPr lang="en-SG" smtClean="0"/>
              <a:t>19/6/2026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66C19A-30F4-D18D-847E-EAB145578E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97EDD3-C243-FAE7-E5D7-566354B2F1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B978E-918F-44F7-8554-F194D3980763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8128548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DDA732-405B-F327-4953-305A298D08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6FF994-15FB-79E8-5718-232E573AC1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804587-FAB6-A7D7-FA0A-768DF8D5F5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6E59C2-7C94-434E-8336-162F25205750}" type="datetimeFigureOut">
              <a:rPr lang="en-SG" smtClean="0"/>
              <a:t>19/6/2026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165AC5-14A1-1E46-3D1C-38F2508B6E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2F9489-07EF-C7E1-5E86-43343B07C7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B978E-918F-44F7-8554-F194D3980763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5499908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281453-4D70-0DFC-5728-52DA75A67D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F1EBB2-8AD8-4DFD-3FA6-6140589AE1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B240B0-4632-CF3C-21B9-C20FD52AC1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6E59C2-7C94-434E-8336-162F25205750}" type="datetimeFigureOut">
              <a:rPr lang="en-SG" smtClean="0"/>
              <a:t>19/6/2026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FD9BB8-8DA5-36ED-E90F-4254D8555D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C443BB-5D04-C9B1-1B88-1BE2BE8D9E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B978E-918F-44F7-8554-F194D3980763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463918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32C0FD-BBEB-68AF-0C73-83BB6095BE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C28832-4512-20FC-9A62-BB7E4BDEBB1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27F0CCA-CBDF-F0AD-EC72-F90BF00FD7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7854ED-A47E-E2A5-93A0-B0EFE87B40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6E59C2-7C94-434E-8336-162F25205750}" type="datetimeFigureOut">
              <a:rPr lang="en-SG" smtClean="0"/>
              <a:t>19/6/2026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2EB73B2-24D9-CA7A-15B2-F66D260DFF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F9999CD-31A9-5D8C-0682-ADB3F13F50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B978E-918F-44F7-8554-F194D3980763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7755809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0E1AF9-F57B-F1F6-B202-ED63295F03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7DAA51-3F1F-BCDB-5D02-5CB0503B65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F5F3C3D-4108-5276-62A6-A5E7D64D00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E12D058-5FED-D658-D4E2-BF0DC28F98D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730E10F-EDDD-44EB-3C69-D8B2BFE383E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DF2E921-08C2-55EC-195C-2D32C3A625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6E59C2-7C94-434E-8336-162F25205750}" type="datetimeFigureOut">
              <a:rPr lang="en-SG" smtClean="0"/>
              <a:t>19/6/2026</a:t>
            </a:fld>
            <a:endParaRPr lang="en-SG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4F93C6B-0861-795E-9784-99C6DBB806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40A6E87-261F-3242-C9A9-0AB649C0BC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B978E-918F-44F7-8554-F194D3980763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6052175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73B08D-088A-767C-D61B-99C00C077E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A7D1AD9-620C-4753-D038-FF7BF4B02F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6E59C2-7C94-434E-8336-162F25205750}" type="datetimeFigureOut">
              <a:rPr lang="en-SG" smtClean="0"/>
              <a:t>19/6/2026</a:t>
            </a:fld>
            <a:endParaRPr lang="en-S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CF2E561-3C6C-F756-D07B-1B0EEA625C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18E5BC3-ED21-BD9B-749D-D6CC6B5C67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B978E-918F-44F7-8554-F194D3980763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2749478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344EB87-51EB-AB23-F225-86BF8330F4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6E59C2-7C94-434E-8336-162F25205750}" type="datetimeFigureOut">
              <a:rPr lang="en-SG" smtClean="0"/>
              <a:t>19/6/2026</a:t>
            </a:fld>
            <a:endParaRPr lang="en-SG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E06982A-C836-F6CD-3EF2-A53E1B0331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619B10-698C-C386-0BDB-D257E18E55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B978E-918F-44F7-8554-F194D3980763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40019743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48758F-531D-0DBA-69D8-69F4BCF763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A6490F-5AD5-8865-F4B1-D0913F65E7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DC69032-B898-D946-BA87-26A406BEAC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303C4C8-0EB3-6E64-ECAD-4B9280C2C7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6E59C2-7C94-434E-8336-162F25205750}" type="datetimeFigureOut">
              <a:rPr lang="en-SG" smtClean="0"/>
              <a:t>19/6/2026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EEA70C0-DE8A-7205-68E2-2EB479A913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F6A07A-4FEA-66CC-5364-623C48637E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B978E-918F-44F7-8554-F194D3980763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2776902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4840F6-C9E3-BB8A-C846-5228E184E6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08A5F28-B99C-1F66-445B-C9ADE9235DD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1143A97-4A8B-F149-22D1-BC3B03D9AA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6096FFD-0BE0-FCCD-B8EB-F73939A438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6E59C2-7C94-434E-8336-162F25205750}" type="datetimeFigureOut">
              <a:rPr lang="en-SG" smtClean="0"/>
              <a:t>19/6/2026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4AEA750-DA81-61BD-D7D0-EB086B0049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6BF91D-41C0-9E50-C7B2-DE5D2997B0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B978E-918F-44F7-8554-F194D3980763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6676138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66F963-B09E-1606-4A58-F41536E5D8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A6C5543-FA41-5EEF-B734-6054CB70AA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368E97-6F86-1319-B498-6397BC1B57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6E59C2-7C94-434E-8336-162F25205750}" type="datetimeFigureOut">
              <a:rPr lang="en-SG" smtClean="0"/>
              <a:t>19/6/2026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C1EF5E-C437-FABD-8F7B-4B479AA2E9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A1C4D5-0A87-8A42-B161-344BB308C9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B978E-918F-44F7-8554-F194D3980763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2994569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87884BD-6AB5-BD1C-C866-40E357A5900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7DA4250-AE28-30CB-EECF-E4A4A1C593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565E43-63D1-AE85-D26C-5B14EEB61D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6E59C2-7C94-434E-8336-162F25205750}" type="datetimeFigureOut">
              <a:rPr lang="en-SG" smtClean="0"/>
              <a:t>19/6/2026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AAFD90-F8ED-FA3E-F9E1-FACD447840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215732-4BD5-978A-7240-8C10742D4B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B978E-918F-44F7-8554-F194D3980763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6721989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6AA9EB2-70D3-AE6D-A7AF-46695A2760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55E322B-03B0-DC0A-580A-2AFA5D3E7C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DC9350-AB6A-A4EA-74F6-5C0808D5C9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36E59C2-7C94-434E-8336-162F25205750}" type="datetimeFigureOut">
              <a:rPr lang="en-SG" smtClean="0"/>
              <a:t>19/6/2026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EDAD80-56F7-4FF6-9C00-B53D1045B05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B2D954-EACD-8A7A-B144-82BDFEDBD98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99B978E-918F-44F7-8554-F194D3980763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0449408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13" Type="http://schemas.openxmlformats.org/officeDocument/2006/relationships/image" Target="../media/image20.png"/><Relationship Id="rId3" Type="http://schemas.openxmlformats.org/officeDocument/2006/relationships/image" Target="../media/image10.png"/><Relationship Id="rId7" Type="http://schemas.openxmlformats.org/officeDocument/2006/relationships/image" Target="../media/image14.svg"/><Relationship Id="rId12" Type="http://schemas.openxmlformats.org/officeDocument/2006/relationships/image" Target="../media/image1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svg"/><Relationship Id="rId11" Type="http://schemas.openxmlformats.org/officeDocument/2006/relationships/image" Target="../media/image18.png"/><Relationship Id="rId5" Type="http://schemas.openxmlformats.org/officeDocument/2006/relationships/image" Target="../media/image12.svg"/><Relationship Id="rId10" Type="http://schemas.openxmlformats.org/officeDocument/2006/relationships/image" Target="../media/image17.png"/><Relationship Id="rId4" Type="http://schemas.openxmlformats.org/officeDocument/2006/relationships/image" Target="../media/image11.jpeg"/><Relationship Id="rId9" Type="http://schemas.openxmlformats.org/officeDocument/2006/relationships/image" Target="../media/image16.png"/><Relationship Id="rId1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AEA0E0FB-FB59-A70E-B6FC-840F505F35EF}"/>
              </a:ext>
            </a:extLst>
          </p:cNvPr>
          <p:cNvCxnSpPr>
            <a:cxnSpLocks/>
            <a:stCxn id="5" idx="1"/>
          </p:cNvCxnSpPr>
          <p:nvPr/>
        </p:nvCxnSpPr>
        <p:spPr>
          <a:xfrm>
            <a:off x="1324227" y="2151824"/>
            <a:ext cx="685414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298FB989-D666-CF38-59CB-3135E79D0D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4227" y="1549689"/>
            <a:ext cx="1074500" cy="120427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6E871C5-75FB-E1D5-EA35-82A2607EE0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5402" y="1549687"/>
            <a:ext cx="1235823" cy="12042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DFD5544-C495-0B90-561D-290C424B8F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40503" y="1549687"/>
            <a:ext cx="1173124" cy="120426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AAB65C3-3239-F456-A37C-2649C916585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33000" y="1549687"/>
            <a:ext cx="1892423" cy="120426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CA831A01-E6C5-4875-6BF5-6B38537F587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01396" y="2908838"/>
            <a:ext cx="520162" cy="520162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01115D54-CAC1-F9B9-A3F4-CCF969EB6B6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6984" y="2908838"/>
            <a:ext cx="520162" cy="520162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30EE64FF-CC09-DC41-8A21-A1B607A0506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13232" y="2908838"/>
            <a:ext cx="520162" cy="520162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303BD390-3913-45AF-D177-5A444678232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8608" y="2908838"/>
            <a:ext cx="520162" cy="520162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71B69A18-721C-F035-1635-316712479AF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37051" y="3883572"/>
            <a:ext cx="780027" cy="838642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CA55FAF5-1F53-8583-D6E3-43EB6001867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16505" y="4722214"/>
            <a:ext cx="1173124" cy="1057907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E80B3129-8E3C-B4CA-4E32-3DB9A88B639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87930" y="4788148"/>
            <a:ext cx="1500753" cy="955557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61E098B1-B1B1-61A6-DA25-45ECD8D23EF5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18689" y="3583882"/>
            <a:ext cx="2519756" cy="2486271"/>
          </a:xfrm>
          <a:prstGeom prst="rect">
            <a:avLst/>
          </a:prstGeom>
        </p:spPr>
      </p:pic>
      <p:sp>
        <p:nvSpPr>
          <p:cNvPr id="27" name="Rectangle 26">
            <a:extLst>
              <a:ext uri="{FF2B5EF4-FFF2-40B4-BE49-F238E27FC236}">
                <a16:creationId xmlns:a16="http://schemas.microsoft.com/office/drawing/2014/main" id="{48E9637A-100D-A025-8C6E-67A215917FF0}"/>
              </a:ext>
            </a:extLst>
          </p:cNvPr>
          <p:cNvSpPr/>
          <p:nvPr/>
        </p:nvSpPr>
        <p:spPr>
          <a:xfrm>
            <a:off x="1261556" y="1056250"/>
            <a:ext cx="1720003" cy="338555"/>
          </a:xfrm>
          <a:prstGeom prst="rect">
            <a:avLst/>
          </a:prstGeom>
          <a:noFill/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>
                <a:solidFill>
                  <a:schemeClr val="tx1"/>
                </a:solidFill>
              </a:rPr>
              <a:t>Power Grid Transformers </a:t>
            </a:r>
            <a:endParaRPr lang="en-SG" sz="1400" b="1" dirty="0">
              <a:solidFill>
                <a:schemeClr val="tx1"/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439A719-B205-6E38-F0F1-AAC8C5318EAD}"/>
              </a:ext>
            </a:extLst>
          </p:cNvPr>
          <p:cNvSpPr/>
          <p:nvPr/>
        </p:nvSpPr>
        <p:spPr>
          <a:xfrm>
            <a:off x="2696502" y="1168417"/>
            <a:ext cx="1720003" cy="338555"/>
          </a:xfrm>
          <a:prstGeom prst="rect">
            <a:avLst/>
          </a:prstGeom>
          <a:noFill/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>
                <a:solidFill>
                  <a:schemeClr val="tx1"/>
                </a:solidFill>
              </a:rPr>
              <a:t>Cable Connector </a:t>
            </a:r>
            <a:endParaRPr lang="en-SG" sz="1400" b="1" dirty="0">
              <a:solidFill>
                <a:schemeClr val="tx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92C1192-FC5C-8CAE-BEB2-48CB72A82B5B}"/>
              </a:ext>
            </a:extLst>
          </p:cNvPr>
          <p:cNvSpPr/>
          <p:nvPr/>
        </p:nvSpPr>
        <p:spPr>
          <a:xfrm>
            <a:off x="4240577" y="1056249"/>
            <a:ext cx="1892423" cy="338555"/>
          </a:xfrm>
          <a:prstGeom prst="rect">
            <a:avLst/>
          </a:prstGeom>
          <a:noFill/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>
                <a:solidFill>
                  <a:schemeClr val="tx1"/>
                </a:solidFill>
              </a:rPr>
              <a:t>High Voltage Power Transmission Cable </a:t>
            </a:r>
            <a:endParaRPr lang="en-SG" sz="1400" b="1" dirty="0">
              <a:solidFill>
                <a:schemeClr val="tx1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E5E7494-905C-EDBF-F13D-5797E2EC0F73}"/>
              </a:ext>
            </a:extLst>
          </p:cNvPr>
          <p:cNvSpPr/>
          <p:nvPr/>
        </p:nvSpPr>
        <p:spPr>
          <a:xfrm>
            <a:off x="6172477" y="1076919"/>
            <a:ext cx="1892423" cy="338555"/>
          </a:xfrm>
          <a:prstGeom prst="rect">
            <a:avLst/>
          </a:prstGeom>
          <a:noFill/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>
                <a:solidFill>
                  <a:schemeClr val="tx1"/>
                </a:solidFill>
              </a:rPr>
              <a:t>Battery Based Power Storage System </a:t>
            </a:r>
            <a:endParaRPr lang="en-SG" sz="1400" b="1" dirty="0">
              <a:solidFill>
                <a:schemeClr val="tx1"/>
              </a:solidFill>
            </a:endParaRP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08372399-45A6-79AA-4C88-BF006697B67E}"/>
              </a:ext>
            </a:extLst>
          </p:cNvPr>
          <p:cNvCxnSpPr>
            <a:stCxn id="5" idx="2"/>
            <a:endCxn id="15" idx="0"/>
          </p:cNvCxnSpPr>
          <p:nvPr/>
        </p:nvCxnSpPr>
        <p:spPr>
          <a:xfrm>
            <a:off x="1861477" y="2753959"/>
            <a:ext cx="0" cy="15487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EB60F01B-D512-A2DB-CDBE-2182798DD6FC}"/>
              </a:ext>
            </a:extLst>
          </p:cNvPr>
          <p:cNvCxnSpPr>
            <a:stCxn id="9" idx="2"/>
            <a:endCxn id="16" idx="0"/>
          </p:cNvCxnSpPr>
          <p:nvPr/>
        </p:nvCxnSpPr>
        <p:spPr>
          <a:xfrm>
            <a:off x="3427065" y="2753956"/>
            <a:ext cx="0" cy="15488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73560BCE-A221-2566-5EB2-57ECB97686C3}"/>
              </a:ext>
            </a:extLst>
          </p:cNvPr>
          <p:cNvCxnSpPr/>
          <p:nvPr/>
        </p:nvCxnSpPr>
        <p:spPr>
          <a:xfrm>
            <a:off x="5073313" y="2753956"/>
            <a:ext cx="0" cy="15488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8E1E2F20-505C-3CD9-3E3C-9FC0275E5272}"/>
              </a:ext>
            </a:extLst>
          </p:cNvPr>
          <p:cNvCxnSpPr>
            <a:cxnSpLocks/>
          </p:cNvCxnSpPr>
          <p:nvPr/>
        </p:nvCxnSpPr>
        <p:spPr>
          <a:xfrm>
            <a:off x="7133002" y="2753956"/>
            <a:ext cx="0" cy="15488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7B8EFCC4-0CAC-B411-A19E-B56FF7CBC37F}"/>
              </a:ext>
            </a:extLst>
          </p:cNvPr>
          <p:cNvCxnSpPr>
            <a:stCxn id="15" idx="2"/>
            <a:endCxn id="20" idx="0"/>
          </p:cNvCxnSpPr>
          <p:nvPr/>
        </p:nvCxnSpPr>
        <p:spPr>
          <a:xfrm rot="16200000" flipH="1">
            <a:off x="2416985" y="2873492"/>
            <a:ext cx="454572" cy="1565588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Connector: Elbow 47">
            <a:extLst>
              <a:ext uri="{FF2B5EF4-FFF2-40B4-BE49-F238E27FC236}">
                <a16:creationId xmlns:a16="http://schemas.microsoft.com/office/drawing/2014/main" id="{137D5DCA-9D92-994B-403E-216E5563140E}"/>
              </a:ext>
            </a:extLst>
          </p:cNvPr>
          <p:cNvCxnSpPr>
            <a:cxnSpLocks/>
            <a:stCxn id="18" idx="2"/>
            <a:endCxn id="20" idx="0"/>
          </p:cNvCxnSpPr>
          <p:nvPr/>
        </p:nvCxnSpPr>
        <p:spPr>
          <a:xfrm rot="5400000">
            <a:off x="5045591" y="1810474"/>
            <a:ext cx="454572" cy="3691624"/>
          </a:xfrm>
          <a:prstGeom prst="bentConnector3">
            <a:avLst>
              <a:gd name="adj1" fmla="val 50000"/>
            </a:avLst>
          </a:prstGeom>
          <a:ln>
            <a:solidFill>
              <a:schemeClr val="accent6">
                <a:lumMod val="75000"/>
              </a:schemeClr>
            </a:solidFill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A4CAE8A6-5CFD-FC91-DAA8-E0BC057261F3}"/>
              </a:ext>
            </a:extLst>
          </p:cNvPr>
          <p:cNvCxnSpPr>
            <a:cxnSpLocks/>
            <a:endCxn id="16" idx="2"/>
          </p:cNvCxnSpPr>
          <p:nvPr/>
        </p:nvCxnSpPr>
        <p:spPr>
          <a:xfrm flipV="1">
            <a:off x="3427065" y="3429000"/>
            <a:ext cx="0" cy="250115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3D0AFB01-AF7A-5114-5EE5-64F37025E471}"/>
              </a:ext>
            </a:extLst>
          </p:cNvPr>
          <p:cNvCxnSpPr>
            <a:cxnSpLocks/>
          </p:cNvCxnSpPr>
          <p:nvPr/>
        </p:nvCxnSpPr>
        <p:spPr>
          <a:xfrm flipV="1">
            <a:off x="5073313" y="3428999"/>
            <a:ext cx="0" cy="250115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C119DAD5-236F-C3AF-5003-4B0D4129B9EE}"/>
              </a:ext>
            </a:extLst>
          </p:cNvPr>
          <p:cNvCxnSpPr>
            <a:cxnSpLocks/>
            <a:stCxn id="22" idx="1"/>
            <a:endCxn id="24" idx="3"/>
          </p:cNvCxnSpPr>
          <p:nvPr/>
        </p:nvCxnSpPr>
        <p:spPr>
          <a:xfrm flipH="1">
            <a:off x="2788683" y="5251168"/>
            <a:ext cx="1627822" cy="14759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3082A48D-BA59-8273-C68F-FCEFEE1C787B}"/>
              </a:ext>
            </a:extLst>
          </p:cNvPr>
          <p:cNvCxnSpPr>
            <a:cxnSpLocks/>
            <a:endCxn id="20" idx="2"/>
          </p:cNvCxnSpPr>
          <p:nvPr/>
        </p:nvCxnSpPr>
        <p:spPr>
          <a:xfrm flipV="1">
            <a:off x="3427064" y="4722214"/>
            <a:ext cx="1" cy="528953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Rectangle 61">
            <a:extLst>
              <a:ext uri="{FF2B5EF4-FFF2-40B4-BE49-F238E27FC236}">
                <a16:creationId xmlns:a16="http://schemas.microsoft.com/office/drawing/2014/main" id="{502DD2CD-75EE-BD41-967F-1573138882A5}"/>
              </a:ext>
            </a:extLst>
          </p:cNvPr>
          <p:cNvSpPr/>
          <p:nvPr/>
        </p:nvSpPr>
        <p:spPr>
          <a:xfrm>
            <a:off x="2337760" y="3943520"/>
            <a:ext cx="1089304" cy="338555"/>
          </a:xfrm>
          <a:prstGeom prst="rect">
            <a:avLst/>
          </a:prstGeom>
          <a:noFill/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>
                <a:solidFill>
                  <a:schemeClr val="tx1"/>
                </a:solidFill>
              </a:rPr>
              <a:t>WIFI Antenna </a:t>
            </a:r>
            <a:endParaRPr lang="en-SG" sz="1400" b="1" dirty="0">
              <a:solidFill>
                <a:schemeClr val="tx1"/>
              </a:solidFill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66FF1E7D-F0FD-C0AD-3BE2-428DD7F9B86A}"/>
              </a:ext>
            </a:extLst>
          </p:cNvPr>
          <p:cNvSpPr/>
          <p:nvPr/>
        </p:nvSpPr>
        <p:spPr>
          <a:xfrm>
            <a:off x="3832992" y="3667273"/>
            <a:ext cx="2246264" cy="338555"/>
          </a:xfrm>
          <a:prstGeom prst="rect">
            <a:avLst/>
          </a:prstGeom>
          <a:noFill/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>
                <a:solidFill>
                  <a:schemeClr val="accent6">
                    <a:lumMod val="75000"/>
                  </a:schemeClr>
                </a:solidFill>
              </a:rPr>
              <a:t>2.4GHz WIFI network </a:t>
            </a:r>
            <a:endParaRPr lang="en-SG" sz="1400" b="1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939E0F85-30DF-962B-8280-F3C94701448B}"/>
              </a:ext>
            </a:extLst>
          </p:cNvPr>
          <p:cNvSpPr/>
          <p:nvPr/>
        </p:nvSpPr>
        <p:spPr>
          <a:xfrm>
            <a:off x="2930961" y="5390392"/>
            <a:ext cx="1772234" cy="338555"/>
          </a:xfrm>
          <a:prstGeom prst="rect">
            <a:avLst/>
          </a:prstGeom>
          <a:noFill/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>
                <a:solidFill>
                  <a:schemeClr val="accent6">
                    <a:lumMod val="75000"/>
                  </a:schemeClr>
                </a:solidFill>
              </a:rPr>
              <a:t>2.4GHz WIFI network </a:t>
            </a:r>
            <a:endParaRPr lang="en-SG" sz="1400" b="1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BBB4DC74-229A-1B71-E3B6-4BB7570E5ECF}"/>
              </a:ext>
            </a:extLst>
          </p:cNvPr>
          <p:cNvSpPr/>
          <p:nvPr/>
        </p:nvSpPr>
        <p:spPr>
          <a:xfrm>
            <a:off x="5333393" y="2970525"/>
            <a:ext cx="1274011" cy="338555"/>
          </a:xfrm>
          <a:prstGeom prst="rect">
            <a:avLst/>
          </a:prstGeom>
          <a:noFill/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>
                <a:solidFill>
                  <a:schemeClr val="tx1"/>
                </a:solidFill>
              </a:rPr>
              <a:t>IOT Thermal Sensors</a:t>
            </a:r>
            <a:endParaRPr lang="en-SG" sz="1400" b="1" dirty="0">
              <a:solidFill>
                <a:schemeClr val="tx1"/>
              </a:solidFill>
            </a:endParaRP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A70473F5-595E-EBC5-262B-F86E5A48F7B2}"/>
              </a:ext>
            </a:extLst>
          </p:cNvPr>
          <p:cNvSpPr/>
          <p:nvPr/>
        </p:nvSpPr>
        <p:spPr>
          <a:xfrm>
            <a:off x="1258531" y="4449593"/>
            <a:ext cx="1672429" cy="338555"/>
          </a:xfrm>
          <a:prstGeom prst="rect">
            <a:avLst/>
          </a:prstGeom>
          <a:noFill/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>
                <a:solidFill>
                  <a:schemeClr val="tx1"/>
                </a:solidFill>
              </a:rPr>
              <a:t>Local Monitor HMI</a:t>
            </a:r>
            <a:endParaRPr lang="en-SG" sz="1400" b="1" dirty="0">
              <a:solidFill>
                <a:schemeClr val="tx1"/>
              </a:solidFill>
            </a:endParaRP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DBC49AFF-E9CB-8CFF-3798-C8BE7C7FFD85}"/>
              </a:ext>
            </a:extLst>
          </p:cNvPr>
          <p:cNvSpPr/>
          <p:nvPr/>
        </p:nvSpPr>
        <p:spPr>
          <a:xfrm>
            <a:off x="4297969" y="4299570"/>
            <a:ext cx="1672429" cy="338555"/>
          </a:xfrm>
          <a:prstGeom prst="rect">
            <a:avLst/>
          </a:prstGeom>
          <a:noFill/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>
                <a:solidFill>
                  <a:schemeClr val="tx1"/>
                </a:solidFill>
              </a:rPr>
              <a:t>5G IoT Gateway</a:t>
            </a:r>
            <a:endParaRPr lang="en-SG" sz="1400" b="1" dirty="0">
              <a:solidFill>
                <a:schemeClr val="tx1"/>
              </a:solidFill>
            </a:endParaRPr>
          </a:p>
        </p:txBody>
      </p: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DD3C835D-5B0D-CFA1-6EE5-9D66B41B0438}"/>
              </a:ext>
            </a:extLst>
          </p:cNvPr>
          <p:cNvCxnSpPr>
            <a:cxnSpLocks/>
            <a:endCxn id="22" idx="3"/>
          </p:cNvCxnSpPr>
          <p:nvPr/>
        </p:nvCxnSpPr>
        <p:spPr>
          <a:xfrm flipH="1">
            <a:off x="5589629" y="4618870"/>
            <a:ext cx="582848" cy="632298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1" name="Rectangle 70">
            <a:extLst>
              <a:ext uri="{FF2B5EF4-FFF2-40B4-BE49-F238E27FC236}">
                <a16:creationId xmlns:a16="http://schemas.microsoft.com/office/drawing/2014/main" id="{796C789A-D7BB-5E10-076C-6DC5D9A5DF2C}"/>
              </a:ext>
            </a:extLst>
          </p:cNvPr>
          <p:cNvSpPr/>
          <p:nvPr/>
        </p:nvSpPr>
        <p:spPr>
          <a:xfrm>
            <a:off x="5967233" y="4707776"/>
            <a:ext cx="1267897" cy="338555"/>
          </a:xfrm>
          <a:prstGeom prst="rect">
            <a:avLst/>
          </a:prstGeom>
          <a:noFill/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>
                <a:solidFill>
                  <a:schemeClr val="tx1"/>
                </a:solidFill>
              </a:rPr>
              <a:t>5G Network</a:t>
            </a:r>
            <a:endParaRPr lang="en-SG" sz="1400" b="1" dirty="0">
              <a:solidFill>
                <a:schemeClr val="tx1"/>
              </a:solidFill>
            </a:endParaRP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FBB62381-9AAA-07FE-8485-40561EEC8BB3}"/>
              </a:ext>
            </a:extLst>
          </p:cNvPr>
          <p:cNvSpPr/>
          <p:nvPr/>
        </p:nvSpPr>
        <p:spPr>
          <a:xfrm>
            <a:off x="8500471" y="5610843"/>
            <a:ext cx="1521136" cy="338555"/>
          </a:xfrm>
          <a:prstGeom prst="rect">
            <a:avLst/>
          </a:prstGeom>
          <a:noFill/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>
                <a:solidFill>
                  <a:schemeClr val="tx1"/>
                </a:solidFill>
              </a:rPr>
              <a:t>Power Grid Control Center </a:t>
            </a:r>
            <a:endParaRPr lang="en-SG" sz="1400" b="1" dirty="0">
              <a:solidFill>
                <a:schemeClr val="tx1"/>
              </a:solidFill>
            </a:endParaRPr>
          </a:p>
        </p:txBody>
      </p:sp>
      <p:sp>
        <p:nvSpPr>
          <p:cNvPr id="73" name="Cloud 72">
            <a:extLst>
              <a:ext uri="{FF2B5EF4-FFF2-40B4-BE49-F238E27FC236}">
                <a16:creationId xmlns:a16="http://schemas.microsoft.com/office/drawing/2014/main" id="{4D4BAAC7-2FAF-631B-B60A-53C3B8CA4A24}"/>
              </a:ext>
            </a:extLst>
          </p:cNvPr>
          <p:cNvSpPr/>
          <p:nvPr/>
        </p:nvSpPr>
        <p:spPr>
          <a:xfrm>
            <a:off x="5970398" y="3943520"/>
            <a:ext cx="1104775" cy="732464"/>
          </a:xfrm>
          <a:prstGeom prst="clou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361316F3-4003-400B-315F-B2EE63B02920}"/>
              </a:ext>
            </a:extLst>
          </p:cNvPr>
          <p:cNvCxnSpPr>
            <a:cxnSpLocks/>
          </p:cNvCxnSpPr>
          <p:nvPr/>
        </p:nvCxnSpPr>
        <p:spPr>
          <a:xfrm flipH="1">
            <a:off x="7075173" y="4090168"/>
            <a:ext cx="820940" cy="22629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0" name="Rectangle 79">
            <a:extLst>
              <a:ext uri="{FF2B5EF4-FFF2-40B4-BE49-F238E27FC236}">
                <a16:creationId xmlns:a16="http://schemas.microsoft.com/office/drawing/2014/main" id="{B42A81FD-6E9A-73A9-1EC2-F537849548DC}"/>
              </a:ext>
            </a:extLst>
          </p:cNvPr>
          <p:cNvSpPr/>
          <p:nvPr/>
        </p:nvSpPr>
        <p:spPr>
          <a:xfrm>
            <a:off x="7834933" y="3245327"/>
            <a:ext cx="1853941" cy="338555"/>
          </a:xfrm>
          <a:prstGeom prst="rect">
            <a:avLst/>
          </a:prstGeom>
          <a:noFill/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>
                <a:solidFill>
                  <a:schemeClr val="tx1"/>
                </a:solidFill>
              </a:rPr>
              <a:t>OCC Monitor HMI</a:t>
            </a:r>
            <a:endParaRPr lang="en-SG" sz="1400" b="1" dirty="0">
              <a:solidFill>
                <a:schemeClr val="tx1"/>
              </a:solidFill>
            </a:endParaRP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100D91BD-3114-E688-5167-6CEC8189025E}"/>
              </a:ext>
            </a:extLst>
          </p:cNvPr>
          <p:cNvSpPr/>
          <p:nvPr/>
        </p:nvSpPr>
        <p:spPr>
          <a:xfrm>
            <a:off x="8218096" y="1966388"/>
            <a:ext cx="1470778" cy="688836"/>
          </a:xfrm>
          <a:prstGeom prst="rect">
            <a:avLst/>
          </a:prstGeom>
          <a:noFill/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>
                <a:solidFill>
                  <a:schemeClr val="tx1"/>
                </a:solidFill>
              </a:rPr>
              <a:t>Power Grid Thermal State management Components </a:t>
            </a:r>
            <a:endParaRPr lang="en-SG" sz="14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122390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B4A4EF-5BD3-9024-760A-E40D74F474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41FEE70-34C5-27FE-D3D0-B91097139705}"/>
              </a:ext>
            </a:extLst>
          </p:cNvPr>
          <p:cNvSpPr/>
          <p:nvPr/>
        </p:nvSpPr>
        <p:spPr>
          <a:xfrm>
            <a:off x="732768" y="707648"/>
            <a:ext cx="11283523" cy="5746939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SG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2EAA913-6CC9-8EAE-A773-A61D05B751E8}"/>
              </a:ext>
            </a:extLst>
          </p:cNvPr>
          <p:cNvSpPr/>
          <p:nvPr/>
        </p:nvSpPr>
        <p:spPr>
          <a:xfrm>
            <a:off x="891826" y="4858989"/>
            <a:ext cx="7413078" cy="1407293"/>
          </a:xfrm>
          <a:prstGeom prst="roundRect">
            <a:avLst/>
          </a:prstGeom>
          <a:solidFill>
            <a:srgbClr val="38A3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SG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E1471A-8212-854A-0916-5D7FC38AF2B2}"/>
              </a:ext>
            </a:extLst>
          </p:cNvPr>
          <p:cNvSpPr txBox="1"/>
          <p:nvPr/>
        </p:nvSpPr>
        <p:spPr>
          <a:xfrm>
            <a:off x="943106" y="4937797"/>
            <a:ext cx="1205965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ea typeface="+mn-ea"/>
                <a:cs typeface="+mn-cs"/>
              </a:rPr>
              <a:t>Level 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ea typeface="+mn-ea"/>
                <a:cs typeface="+mn-cs"/>
              </a:rPr>
              <a:t>Physical Process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ea typeface="+mn-ea"/>
                <a:cs typeface="+mn-cs"/>
              </a:rPr>
              <a:t>Field I/O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ea typeface="+mn-ea"/>
                <a:cs typeface="+mn-cs"/>
              </a:rPr>
              <a:t>device </a:t>
            </a:r>
            <a:endParaRPr kumimoji="0" lang="en-SG" sz="1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626E696-2337-B47D-D4D2-700F6EBEA328}"/>
              </a:ext>
            </a:extLst>
          </p:cNvPr>
          <p:cNvSpPr/>
          <p:nvPr/>
        </p:nvSpPr>
        <p:spPr>
          <a:xfrm>
            <a:off x="2118601" y="5927307"/>
            <a:ext cx="1079110" cy="22032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SG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Wind Turbines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9ED8C86-51C3-12BF-1757-E63C8A5EE1E1}"/>
              </a:ext>
            </a:extLst>
          </p:cNvPr>
          <p:cNvSpPr/>
          <p:nvPr/>
        </p:nvSpPr>
        <p:spPr>
          <a:xfrm>
            <a:off x="3494221" y="5930024"/>
            <a:ext cx="1433852" cy="22032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SG" sz="1000" b="1" dirty="0">
                <a:solidFill>
                  <a:prstClr val="black"/>
                </a:solidFill>
                <a:latin typeface="Calibri" panose="020F0502020204030204"/>
              </a:rPr>
              <a:t>Low</a:t>
            </a:r>
            <a:r>
              <a:rPr kumimoji="0" lang="en-SG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voltage power bus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049DC4D-A9EB-F9BD-74C4-9245C06E1B47}"/>
              </a:ext>
            </a:extLst>
          </p:cNvPr>
          <p:cNvSpPr/>
          <p:nvPr/>
        </p:nvSpPr>
        <p:spPr>
          <a:xfrm>
            <a:off x="5333335" y="5927306"/>
            <a:ext cx="1108187" cy="22032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SG" sz="1000" b="1" dirty="0">
                <a:solidFill>
                  <a:prstClr val="black"/>
                </a:solidFill>
                <a:latin typeface="Calibri" panose="020F0502020204030204"/>
              </a:rPr>
              <a:t>Secondary Loads</a:t>
            </a:r>
            <a:endParaRPr kumimoji="0" lang="en-SG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558B27F2-F074-214B-7A7D-2F014816AF79}"/>
              </a:ext>
            </a:extLst>
          </p:cNvPr>
          <p:cNvCxnSpPr>
            <a:cxnSpLocks/>
          </p:cNvCxnSpPr>
          <p:nvPr/>
        </p:nvCxnSpPr>
        <p:spPr>
          <a:xfrm>
            <a:off x="3206855" y="5698952"/>
            <a:ext cx="103531" cy="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090671A3-DEA5-FB1B-65DD-2235C352E290}"/>
              </a:ext>
            </a:extLst>
          </p:cNvPr>
          <p:cNvCxnSpPr>
            <a:cxnSpLocks/>
          </p:cNvCxnSpPr>
          <p:nvPr/>
        </p:nvCxnSpPr>
        <p:spPr>
          <a:xfrm>
            <a:off x="3203807" y="6089096"/>
            <a:ext cx="103531" cy="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43501252-78CE-1757-1E3B-C256F4C0A692}"/>
              </a:ext>
            </a:extLst>
          </p:cNvPr>
          <p:cNvSpPr/>
          <p:nvPr/>
        </p:nvSpPr>
        <p:spPr>
          <a:xfrm>
            <a:off x="879428" y="3297288"/>
            <a:ext cx="7333630" cy="1389658"/>
          </a:xfrm>
          <a:prstGeom prst="roundRect">
            <a:avLst/>
          </a:prstGeom>
          <a:solidFill>
            <a:srgbClr val="F4C54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SG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D936E138-06D3-F73A-B9BF-032C02948B1E}"/>
              </a:ext>
            </a:extLst>
          </p:cNvPr>
          <p:cNvCxnSpPr>
            <a:cxnSpLocks/>
          </p:cNvCxnSpPr>
          <p:nvPr/>
        </p:nvCxnSpPr>
        <p:spPr>
          <a:xfrm>
            <a:off x="3312124" y="4587599"/>
            <a:ext cx="0" cy="150664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F918933E-0D4D-1467-4317-9336074E962C}"/>
              </a:ext>
            </a:extLst>
          </p:cNvPr>
          <p:cNvCxnSpPr>
            <a:cxnSpLocks/>
          </p:cNvCxnSpPr>
          <p:nvPr/>
        </p:nvCxnSpPr>
        <p:spPr>
          <a:xfrm flipV="1">
            <a:off x="2319887" y="4435738"/>
            <a:ext cx="0" cy="14915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88C22E38-697D-2AE0-79C9-E3A73554CB66}"/>
              </a:ext>
            </a:extLst>
          </p:cNvPr>
          <p:cNvSpPr/>
          <p:nvPr/>
        </p:nvSpPr>
        <p:spPr>
          <a:xfrm>
            <a:off x="2118601" y="5606840"/>
            <a:ext cx="1079110" cy="22032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SG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Solar Panels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4C52998-FFDE-90A6-4F6D-81732BE9084B}"/>
              </a:ext>
            </a:extLst>
          </p:cNvPr>
          <p:cNvSpPr/>
          <p:nvPr/>
        </p:nvSpPr>
        <p:spPr>
          <a:xfrm>
            <a:off x="2118601" y="5302246"/>
            <a:ext cx="1079110" cy="22032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SG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Power generator 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903E5C6-9B00-712D-9144-2B9F510F7152}"/>
              </a:ext>
            </a:extLst>
          </p:cNvPr>
          <p:cNvSpPr/>
          <p:nvPr/>
        </p:nvSpPr>
        <p:spPr>
          <a:xfrm>
            <a:off x="2118601" y="4981779"/>
            <a:ext cx="1079110" cy="22032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SG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Circuit breakers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B343B44A-91A6-3600-BA1F-7693555ED4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01496" y="3969071"/>
            <a:ext cx="627867" cy="446484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pic>
        <p:nvPicPr>
          <p:cNvPr id="29" name="Picture 28" descr="TM221CE16R Schneider Electric Modicon M221 PLC CPU Mini USB Interface –  Ralakde Automation">
            <a:extLst>
              <a:ext uri="{FF2B5EF4-FFF2-40B4-BE49-F238E27FC236}">
                <a16:creationId xmlns:a16="http://schemas.microsoft.com/office/drawing/2014/main" id="{F25542E9-56A6-BDE2-D256-E175B972BC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18601" y="3964458"/>
            <a:ext cx="429884" cy="471280"/>
          </a:xfrm>
          <a:prstGeom prst="rect">
            <a:avLst/>
          </a:prstGeom>
          <a:noFill/>
          <a:ln w="9525"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243EE932-3EC5-D02B-8B2E-0B1C7B59D67A}"/>
              </a:ext>
            </a:extLst>
          </p:cNvPr>
          <p:cNvCxnSpPr>
            <a:cxnSpLocks/>
            <a:endCxn id="27" idx="2"/>
          </p:cNvCxnSpPr>
          <p:nvPr/>
        </p:nvCxnSpPr>
        <p:spPr>
          <a:xfrm rot="10800000">
            <a:off x="3115431" y="4415556"/>
            <a:ext cx="205091" cy="177895"/>
          </a:xfrm>
          <a:prstGeom prst="bentConnector2">
            <a:avLst/>
          </a:prstGeom>
          <a:ln w="127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0810D90B-9C49-4D1E-C62E-ECFB91DCCC60}"/>
              </a:ext>
            </a:extLst>
          </p:cNvPr>
          <p:cNvCxnSpPr>
            <a:cxnSpLocks/>
          </p:cNvCxnSpPr>
          <p:nvPr/>
        </p:nvCxnSpPr>
        <p:spPr>
          <a:xfrm>
            <a:off x="3209903" y="5418536"/>
            <a:ext cx="103531" cy="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39836616-B6CB-566A-BE45-3F9F218A0097}"/>
              </a:ext>
            </a:extLst>
          </p:cNvPr>
          <p:cNvCxnSpPr>
            <a:cxnSpLocks/>
            <a:stCxn id="12" idx="3"/>
          </p:cNvCxnSpPr>
          <p:nvPr/>
        </p:nvCxnSpPr>
        <p:spPr>
          <a:xfrm flipV="1">
            <a:off x="3197711" y="5084082"/>
            <a:ext cx="122810" cy="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9F4B3D1D-5CC1-FB4B-C1C7-5261FC057D10}"/>
              </a:ext>
            </a:extLst>
          </p:cNvPr>
          <p:cNvCxnSpPr>
            <a:cxnSpLocks/>
          </p:cNvCxnSpPr>
          <p:nvPr/>
        </p:nvCxnSpPr>
        <p:spPr>
          <a:xfrm flipV="1">
            <a:off x="3972770" y="4435738"/>
            <a:ext cx="0" cy="14915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3" name="Picture 42" descr="TM221CE16R Schneider Electric Modicon M221 PLC CPU Mini USB Interface –  Ralakde Automation">
            <a:extLst>
              <a:ext uri="{FF2B5EF4-FFF2-40B4-BE49-F238E27FC236}">
                <a16:creationId xmlns:a16="http://schemas.microsoft.com/office/drawing/2014/main" id="{86D2CF54-C343-C0B1-2B83-CBB0A2685B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71484" y="3956673"/>
            <a:ext cx="429884" cy="471280"/>
          </a:xfrm>
          <a:prstGeom prst="rect">
            <a:avLst/>
          </a:prstGeom>
          <a:noFill/>
          <a:ln w="9525"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2208AFAD-A0EB-3F57-C0E3-5F7A24E03285}"/>
              </a:ext>
            </a:extLst>
          </p:cNvPr>
          <p:cNvSpPr/>
          <p:nvPr/>
        </p:nvSpPr>
        <p:spPr>
          <a:xfrm>
            <a:off x="3486092" y="5614776"/>
            <a:ext cx="1433852" cy="22032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SG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High voltage power bus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9CCE4BB-1C81-1D8B-24A5-CB348ED52A2E}"/>
              </a:ext>
            </a:extLst>
          </p:cNvPr>
          <p:cNvSpPr/>
          <p:nvPr/>
        </p:nvSpPr>
        <p:spPr>
          <a:xfrm>
            <a:off x="3484055" y="5302246"/>
            <a:ext cx="1433852" cy="22032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SG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Step down transformer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8B5D611-D2B0-0D18-D106-C28E38FEAE41}"/>
              </a:ext>
            </a:extLst>
          </p:cNvPr>
          <p:cNvSpPr/>
          <p:nvPr/>
        </p:nvSpPr>
        <p:spPr>
          <a:xfrm>
            <a:off x="3494216" y="4995850"/>
            <a:ext cx="1433852" cy="22032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SG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Step up transformer </a:t>
            </a: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180FAA7F-7412-1BFD-688C-0A990327971F}"/>
              </a:ext>
            </a:extLst>
          </p:cNvPr>
          <p:cNvCxnSpPr>
            <a:cxnSpLocks/>
          </p:cNvCxnSpPr>
          <p:nvPr/>
        </p:nvCxnSpPr>
        <p:spPr>
          <a:xfrm>
            <a:off x="5024229" y="4567957"/>
            <a:ext cx="1739" cy="1487609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48" name="Picture 47">
            <a:extLst>
              <a:ext uri="{FF2B5EF4-FFF2-40B4-BE49-F238E27FC236}">
                <a16:creationId xmlns:a16="http://schemas.microsoft.com/office/drawing/2014/main" id="{9A41EEA6-FFF0-7415-FEC5-9D9192EBFB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0167" y="3964457"/>
            <a:ext cx="662735" cy="471279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5B670B79-09B2-3592-C535-664434D65550}"/>
              </a:ext>
            </a:extLst>
          </p:cNvPr>
          <p:cNvCxnSpPr>
            <a:cxnSpLocks/>
            <a:endCxn id="10" idx="3"/>
          </p:cNvCxnSpPr>
          <p:nvPr/>
        </p:nvCxnSpPr>
        <p:spPr>
          <a:xfrm flipH="1">
            <a:off x="4928068" y="5106014"/>
            <a:ext cx="96503" cy="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5BCB1F6B-BF6E-274F-D69B-F82CBE3AD71E}"/>
              </a:ext>
            </a:extLst>
          </p:cNvPr>
          <p:cNvCxnSpPr>
            <a:cxnSpLocks/>
            <a:endCxn id="11" idx="3"/>
          </p:cNvCxnSpPr>
          <p:nvPr/>
        </p:nvCxnSpPr>
        <p:spPr>
          <a:xfrm flipH="1">
            <a:off x="4917907" y="5412410"/>
            <a:ext cx="96503" cy="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8018C552-FBE5-F123-14A8-78DB662DAA24}"/>
              </a:ext>
            </a:extLst>
          </p:cNvPr>
          <p:cNvCxnSpPr>
            <a:cxnSpLocks/>
            <a:endCxn id="13" idx="3"/>
          </p:cNvCxnSpPr>
          <p:nvPr/>
        </p:nvCxnSpPr>
        <p:spPr>
          <a:xfrm flipH="1">
            <a:off x="4919944" y="5724940"/>
            <a:ext cx="88944" cy="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A9CC402B-DDC0-2F48-335A-FB737830C984}"/>
              </a:ext>
            </a:extLst>
          </p:cNvPr>
          <p:cNvCxnSpPr>
            <a:cxnSpLocks/>
          </p:cNvCxnSpPr>
          <p:nvPr/>
        </p:nvCxnSpPr>
        <p:spPr>
          <a:xfrm flipH="1">
            <a:off x="4916710" y="6040177"/>
            <a:ext cx="102323" cy="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AB4CE55C-56A1-83F7-E101-C6B87576A633}"/>
              </a:ext>
            </a:extLst>
          </p:cNvPr>
          <p:cNvCxnSpPr>
            <a:cxnSpLocks/>
          </p:cNvCxnSpPr>
          <p:nvPr/>
        </p:nvCxnSpPr>
        <p:spPr>
          <a:xfrm rot="10800000">
            <a:off x="4669732" y="4435736"/>
            <a:ext cx="356717" cy="135514"/>
          </a:xfrm>
          <a:prstGeom prst="bentConnector2">
            <a:avLst/>
          </a:prstGeom>
          <a:ln w="127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64" name="Picture 63">
            <a:extLst>
              <a:ext uri="{FF2B5EF4-FFF2-40B4-BE49-F238E27FC236}">
                <a16:creationId xmlns:a16="http://schemas.microsoft.com/office/drawing/2014/main" id="{4465A806-53D0-911D-3716-006B46B17D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27919" y="3956286"/>
            <a:ext cx="662735" cy="471279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pic>
        <p:nvPicPr>
          <p:cNvPr id="66" name="Picture 65" descr="TM221CE16R Schneider Electric Modicon M221 PLC CPU Mini USB Interface –  Ralakde Automation">
            <a:extLst>
              <a:ext uri="{FF2B5EF4-FFF2-40B4-BE49-F238E27FC236}">
                <a16:creationId xmlns:a16="http://schemas.microsoft.com/office/drawing/2014/main" id="{703FD809-CF84-B6BD-F1F4-0A9D03AB96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52312" y="3934104"/>
            <a:ext cx="429884" cy="471280"/>
          </a:xfrm>
          <a:prstGeom prst="rect">
            <a:avLst/>
          </a:prstGeom>
          <a:noFill/>
          <a:ln w="9525"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CF61BC6C-8ED8-BFF7-3FE7-BF7392BDE03B}"/>
              </a:ext>
            </a:extLst>
          </p:cNvPr>
          <p:cNvCxnSpPr>
            <a:cxnSpLocks/>
          </p:cNvCxnSpPr>
          <p:nvPr/>
        </p:nvCxnSpPr>
        <p:spPr>
          <a:xfrm flipV="1">
            <a:off x="6202607" y="4412522"/>
            <a:ext cx="205" cy="151478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5E46877F-3F50-CF20-E56B-0C681B7641CD}"/>
              </a:ext>
            </a:extLst>
          </p:cNvPr>
          <p:cNvSpPr/>
          <p:nvPr/>
        </p:nvSpPr>
        <p:spPr>
          <a:xfrm>
            <a:off x="5333335" y="4996342"/>
            <a:ext cx="954645" cy="22032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SG" sz="1000" b="1" dirty="0">
                <a:solidFill>
                  <a:prstClr val="black"/>
                </a:solidFill>
                <a:latin typeface="Calibri" panose="020F0502020204030204"/>
              </a:rPr>
              <a:t>Electrical MUs</a:t>
            </a:r>
            <a:endParaRPr kumimoji="0" lang="en-SG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EDB6F15-9B6A-E431-78F2-001A2638E1C7}"/>
              </a:ext>
            </a:extLst>
          </p:cNvPr>
          <p:cNvSpPr/>
          <p:nvPr/>
        </p:nvSpPr>
        <p:spPr>
          <a:xfrm>
            <a:off x="5350824" y="5294848"/>
            <a:ext cx="933675" cy="22032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SG" sz="1000" b="1" dirty="0">
                <a:solidFill>
                  <a:prstClr val="black"/>
                </a:solidFill>
                <a:latin typeface="Calibri" panose="020F0502020204030204"/>
              </a:rPr>
              <a:t>Station  Loads</a:t>
            </a:r>
            <a:endParaRPr kumimoji="0" lang="en-SG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AE9A158-C476-2092-04B8-A74D5BABEB25}"/>
              </a:ext>
            </a:extLst>
          </p:cNvPr>
          <p:cNvSpPr/>
          <p:nvPr/>
        </p:nvSpPr>
        <p:spPr>
          <a:xfrm>
            <a:off x="5334923" y="5603461"/>
            <a:ext cx="997255" cy="22032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SG" sz="1000" b="1" dirty="0">
                <a:solidFill>
                  <a:prstClr val="black"/>
                </a:solidFill>
                <a:latin typeface="Calibri" panose="020F0502020204030204"/>
              </a:rPr>
              <a:t>Primary  Loads</a:t>
            </a:r>
            <a:endParaRPr kumimoji="0" lang="en-SG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17D40DC0-BBE2-4BDE-9B52-5C020A1036C6}"/>
              </a:ext>
            </a:extLst>
          </p:cNvPr>
          <p:cNvCxnSpPr>
            <a:cxnSpLocks/>
          </p:cNvCxnSpPr>
          <p:nvPr/>
        </p:nvCxnSpPr>
        <p:spPr>
          <a:xfrm>
            <a:off x="5179509" y="4549860"/>
            <a:ext cx="1739" cy="1487609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60EE87EE-FCA6-A41C-AA56-955441AD10BB}"/>
              </a:ext>
            </a:extLst>
          </p:cNvPr>
          <p:cNvCxnSpPr>
            <a:cxnSpLocks/>
            <a:stCxn id="17" idx="1"/>
          </p:cNvCxnSpPr>
          <p:nvPr/>
        </p:nvCxnSpPr>
        <p:spPr>
          <a:xfrm flipH="1">
            <a:off x="5176844" y="6037470"/>
            <a:ext cx="156491" cy="2717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62641CCC-426D-D184-2ABF-57B93FEC297D}"/>
              </a:ext>
            </a:extLst>
          </p:cNvPr>
          <p:cNvCxnSpPr>
            <a:cxnSpLocks/>
          </p:cNvCxnSpPr>
          <p:nvPr/>
        </p:nvCxnSpPr>
        <p:spPr>
          <a:xfrm flipH="1">
            <a:off x="5168893" y="5721576"/>
            <a:ext cx="173981" cy="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358DA65A-9128-0E02-58A1-3F14FAD95DB7}"/>
              </a:ext>
            </a:extLst>
          </p:cNvPr>
          <p:cNvCxnSpPr>
            <a:cxnSpLocks/>
            <a:endCxn id="15" idx="1"/>
          </p:cNvCxnSpPr>
          <p:nvPr/>
        </p:nvCxnSpPr>
        <p:spPr>
          <a:xfrm>
            <a:off x="5191661" y="5405011"/>
            <a:ext cx="159163" cy="1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79A24B10-B8A1-22CA-FDA7-6685B7609E56}"/>
              </a:ext>
            </a:extLst>
          </p:cNvPr>
          <p:cNvCxnSpPr>
            <a:cxnSpLocks/>
            <a:endCxn id="18" idx="1"/>
          </p:cNvCxnSpPr>
          <p:nvPr/>
        </p:nvCxnSpPr>
        <p:spPr>
          <a:xfrm>
            <a:off x="5191885" y="5096398"/>
            <a:ext cx="141450" cy="10108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A3A4A585-2185-DC57-DA47-ACA5DD441324}"/>
              </a:ext>
            </a:extLst>
          </p:cNvPr>
          <p:cNvCxnSpPr>
            <a:cxnSpLocks/>
          </p:cNvCxnSpPr>
          <p:nvPr/>
        </p:nvCxnSpPr>
        <p:spPr>
          <a:xfrm flipV="1">
            <a:off x="5195892" y="4427565"/>
            <a:ext cx="431591" cy="137353"/>
          </a:xfrm>
          <a:prstGeom prst="bentConnector2">
            <a:avLst/>
          </a:prstGeom>
          <a:ln w="127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5B592EE0-082E-CE27-A0BE-DB929FC5BABC}"/>
              </a:ext>
            </a:extLst>
          </p:cNvPr>
          <p:cNvSpPr txBox="1"/>
          <p:nvPr/>
        </p:nvSpPr>
        <p:spPr>
          <a:xfrm>
            <a:off x="1906410" y="3561230"/>
            <a:ext cx="89350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SG" sz="11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/>
              </a:rPr>
              <a:t>Generation Control PLC</a:t>
            </a:r>
            <a:endParaRPr kumimoji="0" lang="en-SG" sz="1100" b="1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2C2679B8-104D-F10D-3004-E344D341ACF3}"/>
              </a:ext>
            </a:extLst>
          </p:cNvPr>
          <p:cNvSpPr txBox="1"/>
          <p:nvPr/>
        </p:nvSpPr>
        <p:spPr>
          <a:xfrm>
            <a:off x="2690014" y="3549707"/>
            <a:ext cx="93994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SG" sz="11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/>
              </a:rPr>
              <a:t>Generation Monitor RTU</a:t>
            </a:r>
            <a:endParaRPr kumimoji="0" lang="en-SG" sz="1100" b="1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CF5ADE54-EB22-8B3E-0E44-9FACA669FA02}"/>
              </a:ext>
            </a:extLst>
          </p:cNvPr>
          <p:cNvSpPr txBox="1"/>
          <p:nvPr/>
        </p:nvSpPr>
        <p:spPr>
          <a:xfrm>
            <a:off x="4394796" y="3552500"/>
            <a:ext cx="108876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SG" sz="11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/>
              </a:rPr>
              <a:t>Transmission Monitor RTU</a:t>
            </a:r>
            <a:endParaRPr kumimoji="0" lang="en-SG" sz="1100" b="1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36B098BD-C310-8018-C332-3A0F07149040}"/>
              </a:ext>
            </a:extLst>
          </p:cNvPr>
          <p:cNvSpPr txBox="1"/>
          <p:nvPr/>
        </p:nvSpPr>
        <p:spPr>
          <a:xfrm>
            <a:off x="3546148" y="3549512"/>
            <a:ext cx="100496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SG" sz="11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/>
              </a:rPr>
              <a:t>Transmission Control PLC</a:t>
            </a:r>
            <a:endParaRPr kumimoji="0" lang="en-SG" sz="1100" b="1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65451EB2-6B9C-0572-456A-51FFD53B8D32}"/>
              </a:ext>
            </a:extLst>
          </p:cNvPr>
          <p:cNvSpPr txBox="1"/>
          <p:nvPr/>
        </p:nvSpPr>
        <p:spPr>
          <a:xfrm>
            <a:off x="5993057" y="3561230"/>
            <a:ext cx="88085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SG" sz="11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/>
              </a:rPr>
              <a:t>Distribution Control PLC</a:t>
            </a:r>
            <a:endParaRPr kumimoji="0" lang="en-SG" sz="1100" b="1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CD54FB78-EC60-5464-83F5-59977B9B6441}"/>
              </a:ext>
            </a:extLst>
          </p:cNvPr>
          <p:cNvSpPr txBox="1"/>
          <p:nvPr/>
        </p:nvSpPr>
        <p:spPr>
          <a:xfrm>
            <a:off x="5207911" y="3554209"/>
            <a:ext cx="108876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SG" sz="11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/>
              </a:rPr>
              <a:t>Distribution Monitor RTU</a:t>
            </a:r>
            <a:endParaRPr kumimoji="0" lang="en-SG" sz="1100" b="1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5" name="Rectangle: Rounded Corners 104">
            <a:extLst>
              <a:ext uri="{FF2B5EF4-FFF2-40B4-BE49-F238E27FC236}">
                <a16:creationId xmlns:a16="http://schemas.microsoft.com/office/drawing/2014/main" id="{A07D4043-EE0D-8490-7D14-9715974BFF69}"/>
              </a:ext>
            </a:extLst>
          </p:cNvPr>
          <p:cNvSpPr/>
          <p:nvPr/>
        </p:nvSpPr>
        <p:spPr>
          <a:xfrm>
            <a:off x="891826" y="1826030"/>
            <a:ext cx="6240494" cy="1280819"/>
          </a:xfrm>
          <a:prstGeom prst="roundRect">
            <a:avLst/>
          </a:prstGeom>
          <a:solidFill>
            <a:srgbClr val="D67A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SG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16525420-BBE0-C135-3E89-84DEE3E3A36C}"/>
              </a:ext>
            </a:extLst>
          </p:cNvPr>
          <p:cNvSpPr txBox="1"/>
          <p:nvPr/>
        </p:nvSpPr>
        <p:spPr>
          <a:xfrm>
            <a:off x="957226" y="1948058"/>
            <a:ext cx="1391555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ea typeface="+mn-ea"/>
                <a:cs typeface="+mn-cs"/>
              </a:rPr>
              <a:t>Level 2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ea typeface="+mn-ea"/>
                <a:cs typeface="+mn-cs"/>
              </a:rPr>
              <a:t>Power Grid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ea typeface="+mn-ea"/>
                <a:cs typeface="+mn-cs"/>
              </a:rPr>
              <a:t>Control Center Processing LAN</a:t>
            </a:r>
          </a:p>
        </p:txBody>
      </p:sp>
      <p:pic>
        <p:nvPicPr>
          <p:cNvPr id="107" name="Graphic 106" descr="Computer with solid fill">
            <a:extLst>
              <a:ext uri="{FF2B5EF4-FFF2-40B4-BE49-F238E27FC236}">
                <a16:creationId xmlns:a16="http://schemas.microsoft.com/office/drawing/2014/main" id="{F5FB7ABB-8411-8411-2ADC-0929F724682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760434" y="2219360"/>
            <a:ext cx="446421" cy="446421"/>
          </a:xfrm>
          <a:prstGeom prst="rect">
            <a:avLst/>
          </a:prstGeom>
        </p:spPr>
      </p:pic>
      <p:sp>
        <p:nvSpPr>
          <p:cNvPr id="108" name="TextBox 107">
            <a:extLst>
              <a:ext uri="{FF2B5EF4-FFF2-40B4-BE49-F238E27FC236}">
                <a16:creationId xmlns:a16="http://schemas.microsoft.com/office/drawing/2014/main" id="{471928F0-2F3D-94D3-F4ED-5E967CE354DD}"/>
              </a:ext>
            </a:extLst>
          </p:cNvPr>
          <p:cNvSpPr txBox="1"/>
          <p:nvPr/>
        </p:nvSpPr>
        <p:spPr>
          <a:xfrm>
            <a:off x="973945" y="3464873"/>
            <a:ext cx="1043848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Level 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OT System Controller LAN </a:t>
            </a:r>
            <a:endParaRPr kumimoji="0" lang="en-SG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pic>
        <p:nvPicPr>
          <p:cNvPr id="109" name="Graphic 108" descr="Full Brick Wall with solid fill">
            <a:extLst>
              <a:ext uri="{FF2B5EF4-FFF2-40B4-BE49-F238E27FC236}">
                <a16:creationId xmlns:a16="http://schemas.microsoft.com/office/drawing/2014/main" id="{493EC25A-A968-B9D6-512E-BA856CC9BA5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725898" y="1787428"/>
            <a:ext cx="418359" cy="418359"/>
          </a:xfrm>
          <a:prstGeom prst="rect">
            <a:avLst/>
          </a:prstGeom>
        </p:spPr>
      </p:pic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081DDEE3-2D92-7413-D480-84BAF6F62E1C}"/>
              </a:ext>
            </a:extLst>
          </p:cNvPr>
          <p:cNvCxnSpPr>
            <a:cxnSpLocks/>
          </p:cNvCxnSpPr>
          <p:nvPr/>
        </p:nvCxnSpPr>
        <p:spPr>
          <a:xfrm>
            <a:off x="2935077" y="2029633"/>
            <a:ext cx="0" cy="281333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2" name="Graphic 111" descr="Ui Ux with solid fill">
            <a:extLst>
              <a:ext uri="{FF2B5EF4-FFF2-40B4-BE49-F238E27FC236}">
                <a16:creationId xmlns:a16="http://schemas.microsoft.com/office/drawing/2014/main" id="{85CD6CC1-8668-EF0B-0099-BB6D203BEDB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646280" y="2555321"/>
            <a:ext cx="446421" cy="446421"/>
          </a:xfrm>
          <a:prstGeom prst="rect">
            <a:avLst/>
          </a:prstGeom>
        </p:spPr>
      </p:pic>
      <p:sp>
        <p:nvSpPr>
          <p:cNvPr id="113" name="TextBox 112">
            <a:extLst>
              <a:ext uri="{FF2B5EF4-FFF2-40B4-BE49-F238E27FC236}">
                <a16:creationId xmlns:a16="http://schemas.microsoft.com/office/drawing/2014/main" id="{E1C2831A-CC97-AD85-FCC0-4BD330E4CE2B}"/>
              </a:ext>
            </a:extLst>
          </p:cNvPr>
          <p:cNvSpPr txBox="1"/>
          <p:nvPr/>
        </p:nvSpPr>
        <p:spPr>
          <a:xfrm>
            <a:off x="3441893" y="2144979"/>
            <a:ext cx="121347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SG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Power System control HMI</a:t>
            </a:r>
          </a:p>
        </p:txBody>
      </p:sp>
      <p:pic>
        <p:nvPicPr>
          <p:cNvPr id="114" name="Graphic 113" descr="Ui Ux with solid fill">
            <a:extLst>
              <a:ext uri="{FF2B5EF4-FFF2-40B4-BE49-F238E27FC236}">
                <a16:creationId xmlns:a16="http://schemas.microsoft.com/office/drawing/2014/main" id="{B4FD0633-6181-AB43-3EB3-7C679904DC8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656480" y="2548761"/>
            <a:ext cx="446421" cy="446421"/>
          </a:xfrm>
          <a:prstGeom prst="rect">
            <a:avLst/>
          </a:prstGeom>
        </p:spPr>
      </p:pic>
      <p:sp>
        <p:nvSpPr>
          <p:cNvPr id="115" name="TextBox 114">
            <a:extLst>
              <a:ext uri="{FF2B5EF4-FFF2-40B4-BE49-F238E27FC236}">
                <a16:creationId xmlns:a16="http://schemas.microsoft.com/office/drawing/2014/main" id="{D0746826-D2EC-056C-F176-74B1200C2C5F}"/>
              </a:ext>
            </a:extLst>
          </p:cNvPr>
          <p:cNvSpPr txBox="1"/>
          <p:nvPr/>
        </p:nvSpPr>
        <p:spPr>
          <a:xfrm>
            <a:off x="4379722" y="2138880"/>
            <a:ext cx="121347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SG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Power System Monitor HMI</a:t>
            </a:r>
          </a:p>
        </p:txBody>
      </p:sp>
      <p:pic>
        <p:nvPicPr>
          <p:cNvPr id="116" name="Graphic 115" descr="Computer with solid fill">
            <a:extLst>
              <a:ext uri="{FF2B5EF4-FFF2-40B4-BE49-F238E27FC236}">
                <a16:creationId xmlns:a16="http://schemas.microsoft.com/office/drawing/2014/main" id="{A7AF59F9-00D0-2B7F-76A4-FF9F1B829EE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721604" y="2548761"/>
            <a:ext cx="481208" cy="481208"/>
          </a:xfrm>
          <a:prstGeom prst="rect">
            <a:avLst/>
          </a:prstGeom>
        </p:spPr>
      </p:pic>
      <p:sp>
        <p:nvSpPr>
          <p:cNvPr id="117" name="TextBox 116">
            <a:extLst>
              <a:ext uri="{FF2B5EF4-FFF2-40B4-BE49-F238E27FC236}">
                <a16:creationId xmlns:a16="http://schemas.microsoft.com/office/drawing/2014/main" id="{ED3E84DE-DB98-588A-859F-3C05A34434F1}"/>
              </a:ext>
            </a:extLst>
          </p:cNvPr>
          <p:cNvSpPr txBox="1"/>
          <p:nvPr/>
        </p:nvSpPr>
        <p:spPr>
          <a:xfrm>
            <a:off x="5534506" y="2157843"/>
            <a:ext cx="930778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Maintenance workstations</a:t>
            </a:r>
            <a:endParaRPr kumimoji="0" lang="en-SG" sz="11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18" name="Connector: Elbow 117">
            <a:extLst>
              <a:ext uri="{FF2B5EF4-FFF2-40B4-BE49-F238E27FC236}">
                <a16:creationId xmlns:a16="http://schemas.microsoft.com/office/drawing/2014/main" id="{3FA18372-36F2-AA2B-7005-7C19F3669E94}"/>
              </a:ext>
            </a:extLst>
          </p:cNvPr>
          <p:cNvCxnSpPr>
            <a:cxnSpLocks/>
            <a:stCxn id="29" idx="0"/>
            <a:endCxn id="112" idx="2"/>
          </p:cNvCxnSpPr>
          <p:nvPr/>
        </p:nvCxnSpPr>
        <p:spPr>
          <a:xfrm rot="5400000" flipH="1" flipV="1">
            <a:off x="2620159" y="2715126"/>
            <a:ext cx="962716" cy="1535948"/>
          </a:xfrm>
          <a:prstGeom prst="bentConnector3">
            <a:avLst>
              <a:gd name="adj1" fmla="val 50000"/>
            </a:avLst>
          </a:prstGeom>
          <a:ln w="19050">
            <a:solidFill>
              <a:srgbClr val="C0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: Elbow 120">
            <a:extLst>
              <a:ext uri="{FF2B5EF4-FFF2-40B4-BE49-F238E27FC236}">
                <a16:creationId xmlns:a16="http://schemas.microsoft.com/office/drawing/2014/main" id="{5D6BD457-6A61-7C05-6D68-527E1520556C}"/>
              </a:ext>
            </a:extLst>
          </p:cNvPr>
          <p:cNvCxnSpPr>
            <a:cxnSpLocks/>
            <a:stCxn id="43" idx="0"/>
            <a:endCxn id="112" idx="2"/>
          </p:cNvCxnSpPr>
          <p:nvPr/>
        </p:nvCxnSpPr>
        <p:spPr>
          <a:xfrm rot="16200000" flipV="1">
            <a:off x="3450494" y="3420740"/>
            <a:ext cx="954931" cy="116935"/>
          </a:xfrm>
          <a:prstGeom prst="bentConnector3">
            <a:avLst>
              <a:gd name="adj1" fmla="val 50000"/>
            </a:avLst>
          </a:prstGeom>
          <a:ln w="19050">
            <a:solidFill>
              <a:srgbClr val="C0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: Elbow 125">
            <a:extLst>
              <a:ext uri="{FF2B5EF4-FFF2-40B4-BE49-F238E27FC236}">
                <a16:creationId xmlns:a16="http://schemas.microsoft.com/office/drawing/2014/main" id="{8197C647-C50F-82FA-747B-F4BA1ADEC51C}"/>
              </a:ext>
            </a:extLst>
          </p:cNvPr>
          <p:cNvCxnSpPr>
            <a:cxnSpLocks/>
            <a:stCxn id="66" idx="0"/>
            <a:endCxn id="112" idx="2"/>
          </p:cNvCxnSpPr>
          <p:nvPr/>
        </p:nvCxnSpPr>
        <p:spPr>
          <a:xfrm rot="16200000" flipV="1">
            <a:off x="4652192" y="2219041"/>
            <a:ext cx="932362" cy="2497763"/>
          </a:xfrm>
          <a:prstGeom prst="bentConnector3">
            <a:avLst>
              <a:gd name="adj1" fmla="val 50000"/>
            </a:avLst>
          </a:prstGeom>
          <a:ln w="19050">
            <a:solidFill>
              <a:srgbClr val="C0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: Elbow 130">
            <a:extLst>
              <a:ext uri="{FF2B5EF4-FFF2-40B4-BE49-F238E27FC236}">
                <a16:creationId xmlns:a16="http://schemas.microsoft.com/office/drawing/2014/main" id="{BC76ECCD-BDE6-F309-4FEE-E886314931AD}"/>
              </a:ext>
            </a:extLst>
          </p:cNvPr>
          <p:cNvCxnSpPr>
            <a:stCxn id="86" idx="2"/>
            <a:endCxn id="112" idx="3"/>
          </p:cNvCxnSpPr>
          <p:nvPr/>
        </p:nvCxnSpPr>
        <p:spPr>
          <a:xfrm rot="5400000" flipH="1" flipV="1">
            <a:off x="3025312" y="2913205"/>
            <a:ext cx="1202062" cy="932716"/>
          </a:xfrm>
          <a:prstGeom prst="bentConnector4">
            <a:avLst>
              <a:gd name="adj1" fmla="val 35685"/>
              <a:gd name="adj2" fmla="val 124509"/>
            </a:avLst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: Elbow 135">
            <a:extLst>
              <a:ext uri="{FF2B5EF4-FFF2-40B4-BE49-F238E27FC236}">
                <a16:creationId xmlns:a16="http://schemas.microsoft.com/office/drawing/2014/main" id="{7127BF59-E614-2F01-44AE-98F076D9EFBF}"/>
              </a:ext>
            </a:extLst>
          </p:cNvPr>
          <p:cNvCxnSpPr>
            <a:cxnSpLocks/>
            <a:endCxn id="48" idx="0"/>
          </p:cNvCxnSpPr>
          <p:nvPr/>
        </p:nvCxnSpPr>
        <p:spPr>
          <a:xfrm rot="16200000" flipH="1">
            <a:off x="4302100" y="3565021"/>
            <a:ext cx="414945" cy="383926"/>
          </a:xfrm>
          <a:prstGeom prst="bentConnector3">
            <a:avLst>
              <a:gd name="adj1" fmla="val 2956"/>
            </a:avLst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38" name="Connector: Elbow 137">
            <a:extLst>
              <a:ext uri="{FF2B5EF4-FFF2-40B4-BE49-F238E27FC236}">
                <a16:creationId xmlns:a16="http://schemas.microsoft.com/office/drawing/2014/main" id="{C260411A-2E48-7740-5EE4-D4F827E580CF}"/>
              </a:ext>
            </a:extLst>
          </p:cNvPr>
          <p:cNvCxnSpPr>
            <a:cxnSpLocks/>
            <a:endCxn id="64" idx="0"/>
          </p:cNvCxnSpPr>
          <p:nvPr/>
        </p:nvCxnSpPr>
        <p:spPr>
          <a:xfrm>
            <a:off x="4701535" y="3561229"/>
            <a:ext cx="957752" cy="395057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44" name="Straight Connector 143">
            <a:extLst>
              <a:ext uri="{FF2B5EF4-FFF2-40B4-BE49-F238E27FC236}">
                <a16:creationId xmlns:a16="http://schemas.microsoft.com/office/drawing/2014/main" id="{A8E9023A-F310-F7D2-1790-331D82B802B6}"/>
              </a:ext>
            </a:extLst>
          </p:cNvPr>
          <p:cNvCxnSpPr>
            <a:cxnSpLocks/>
          </p:cNvCxnSpPr>
          <p:nvPr/>
        </p:nvCxnSpPr>
        <p:spPr>
          <a:xfrm>
            <a:off x="2935077" y="2575866"/>
            <a:ext cx="0" cy="272009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Straight Connector 146">
            <a:extLst>
              <a:ext uri="{FF2B5EF4-FFF2-40B4-BE49-F238E27FC236}">
                <a16:creationId xmlns:a16="http://schemas.microsoft.com/office/drawing/2014/main" id="{5D28F4CF-14B6-466A-EF74-DDBB8D876DAA}"/>
              </a:ext>
            </a:extLst>
          </p:cNvPr>
          <p:cNvCxnSpPr>
            <a:cxnSpLocks/>
          </p:cNvCxnSpPr>
          <p:nvPr/>
        </p:nvCxnSpPr>
        <p:spPr>
          <a:xfrm>
            <a:off x="2935077" y="2847875"/>
            <a:ext cx="718164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Straight Connector 150">
            <a:extLst>
              <a:ext uri="{FF2B5EF4-FFF2-40B4-BE49-F238E27FC236}">
                <a16:creationId xmlns:a16="http://schemas.microsoft.com/office/drawing/2014/main" id="{FF0170E5-5C76-5F63-BBCA-31DF3B6B4442}"/>
              </a:ext>
            </a:extLst>
          </p:cNvPr>
          <p:cNvCxnSpPr>
            <a:cxnSpLocks/>
          </p:cNvCxnSpPr>
          <p:nvPr/>
        </p:nvCxnSpPr>
        <p:spPr>
          <a:xfrm>
            <a:off x="3084830" y="2020924"/>
            <a:ext cx="2449676" cy="8709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Straight Connector 154">
            <a:extLst>
              <a:ext uri="{FF2B5EF4-FFF2-40B4-BE49-F238E27FC236}">
                <a16:creationId xmlns:a16="http://schemas.microsoft.com/office/drawing/2014/main" id="{D79898C0-24BE-91A7-AFA9-BD33161C48AC}"/>
              </a:ext>
            </a:extLst>
          </p:cNvPr>
          <p:cNvCxnSpPr>
            <a:cxnSpLocks/>
          </p:cNvCxnSpPr>
          <p:nvPr/>
        </p:nvCxnSpPr>
        <p:spPr>
          <a:xfrm>
            <a:off x="4394796" y="2132225"/>
            <a:ext cx="0" cy="65714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Straight Connector 156">
            <a:extLst>
              <a:ext uri="{FF2B5EF4-FFF2-40B4-BE49-F238E27FC236}">
                <a16:creationId xmlns:a16="http://schemas.microsoft.com/office/drawing/2014/main" id="{D82C0A00-7668-8480-74B7-BB464DC78332}"/>
              </a:ext>
            </a:extLst>
          </p:cNvPr>
          <p:cNvCxnSpPr>
            <a:cxnSpLocks/>
            <a:endCxn id="114" idx="1"/>
          </p:cNvCxnSpPr>
          <p:nvPr/>
        </p:nvCxnSpPr>
        <p:spPr>
          <a:xfrm>
            <a:off x="4394796" y="2769823"/>
            <a:ext cx="261684" cy="2149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Straight Connector 159">
            <a:extLst>
              <a:ext uri="{FF2B5EF4-FFF2-40B4-BE49-F238E27FC236}">
                <a16:creationId xmlns:a16="http://schemas.microsoft.com/office/drawing/2014/main" id="{7E031B8F-9117-8F0B-FF57-E11833D87665}"/>
              </a:ext>
            </a:extLst>
          </p:cNvPr>
          <p:cNvCxnSpPr>
            <a:cxnSpLocks/>
          </p:cNvCxnSpPr>
          <p:nvPr/>
        </p:nvCxnSpPr>
        <p:spPr>
          <a:xfrm>
            <a:off x="5534506" y="2029632"/>
            <a:ext cx="0" cy="748899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Straight Connector 162">
            <a:extLst>
              <a:ext uri="{FF2B5EF4-FFF2-40B4-BE49-F238E27FC236}">
                <a16:creationId xmlns:a16="http://schemas.microsoft.com/office/drawing/2014/main" id="{2D24FF54-1DFA-3227-A53A-CC54E5314549}"/>
              </a:ext>
            </a:extLst>
          </p:cNvPr>
          <p:cNvCxnSpPr>
            <a:cxnSpLocks/>
          </p:cNvCxnSpPr>
          <p:nvPr/>
        </p:nvCxnSpPr>
        <p:spPr>
          <a:xfrm>
            <a:off x="5380262" y="1882767"/>
            <a:ext cx="0" cy="1147202"/>
          </a:xfrm>
          <a:prstGeom prst="line">
            <a:avLst/>
          </a:prstGeom>
          <a:ln>
            <a:solidFill>
              <a:schemeClr val="bg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Straight Connector 164">
            <a:extLst>
              <a:ext uri="{FF2B5EF4-FFF2-40B4-BE49-F238E27FC236}">
                <a16:creationId xmlns:a16="http://schemas.microsoft.com/office/drawing/2014/main" id="{E2BAE817-E4ED-4CBE-9ED1-B63FD1CC267B}"/>
              </a:ext>
            </a:extLst>
          </p:cNvPr>
          <p:cNvCxnSpPr>
            <a:cxnSpLocks/>
          </p:cNvCxnSpPr>
          <p:nvPr/>
        </p:nvCxnSpPr>
        <p:spPr>
          <a:xfrm>
            <a:off x="5540006" y="2767333"/>
            <a:ext cx="168489" cy="2149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Straight Connector 167">
            <a:extLst>
              <a:ext uri="{FF2B5EF4-FFF2-40B4-BE49-F238E27FC236}">
                <a16:creationId xmlns:a16="http://schemas.microsoft.com/office/drawing/2014/main" id="{9BDEBFA3-A83B-A42B-1478-C7748D1FAF88}"/>
              </a:ext>
            </a:extLst>
          </p:cNvPr>
          <p:cNvCxnSpPr>
            <a:cxnSpLocks/>
          </p:cNvCxnSpPr>
          <p:nvPr/>
        </p:nvCxnSpPr>
        <p:spPr>
          <a:xfrm>
            <a:off x="3187066" y="2442570"/>
            <a:ext cx="133455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Straight Connector 169">
            <a:extLst>
              <a:ext uri="{FF2B5EF4-FFF2-40B4-BE49-F238E27FC236}">
                <a16:creationId xmlns:a16="http://schemas.microsoft.com/office/drawing/2014/main" id="{7D12AC27-0EA6-D9D7-DCE7-2C6B76740504}"/>
              </a:ext>
            </a:extLst>
          </p:cNvPr>
          <p:cNvCxnSpPr>
            <a:cxnSpLocks/>
          </p:cNvCxnSpPr>
          <p:nvPr/>
        </p:nvCxnSpPr>
        <p:spPr>
          <a:xfrm>
            <a:off x="3309774" y="2121462"/>
            <a:ext cx="0" cy="325586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Straight Connector 174">
            <a:extLst>
              <a:ext uri="{FF2B5EF4-FFF2-40B4-BE49-F238E27FC236}">
                <a16:creationId xmlns:a16="http://schemas.microsoft.com/office/drawing/2014/main" id="{CCA66879-22D1-8EEB-CA14-BB7C2AAF98E0}"/>
              </a:ext>
            </a:extLst>
          </p:cNvPr>
          <p:cNvCxnSpPr>
            <a:cxnSpLocks/>
          </p:cNvCxnSpPr>
          <p:nvPr/>
        </p:nvCxnSpPr>
        <p:spPr>
          <a:xfrm>
            <a:off x="3320521" y="2121462"/>
            <a:ext cx="1087385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TextBox 178">
            <a:extLst>
              <a:ext uri="{FF2B5EF4-FFF2-40B4-BE49-F238E27FC236}">
                <a16:creationId xmlns:a16="http://schemas.microsoft.com/office/drawing/2014/main" id="{37F964CA-4789-F849-89C2-5477B0799CA0}"/>
              </a:ext>
            </a:extLst>
          </p:cNvPr>
          <p:cNvSpPr txBox="1"/>
          <p:nvPr/>
        </p:nvSpPr>
        <p:spPr>
          <a:xfrm>
            <a:off x="1835148" y="793976"/>
            <a:ext cx="602588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Power Grid</a:t>
            </a:r>
            <a:r>
              <a:rPr lang="en-US" sz="2400" b="1" dirty="0">
                <a:solidFill>
                  <a:prstClr val="white"/>
                </a:solidFill>
                <a:latin typeface="Calibri" panose="020F0502020204030204"/>
              </a:rPr>
              <a:t>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Simulation</a:t>
            </a:r>
            <a:r>
              <a:rPr lang="en-US" sz="2400" b="1" dirty="0">
                <a:solidFill>
                  <a:prstClr val="white"/>
                </a:solidFill>
                <a:latin typeface="Calibri" panose="020F0502020204030204"/>
              </a:rPr>
              <a:t>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System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Mini </a:t>
            </a:r>
            <a:r>
              <a:rPr lang="en-US" sz="2400" b="1" dirty="0">
                <a:solidFill>
                  <a:prstClr val="white"/>
                </a:solidFill>
                <a:latin typeface="Calibri" panose="020F0502020204030204"/>
              </a:rPr>
              <a:t>Energy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-OT-System Cyber </a:t>
            </a:r>
            <a:r>
              <a:rPr lang="en-US" sz="2400" b="1" dirty="0">
                <a:solidFill>
                  <a:prstClr val="white"/>
                </a:solidFill>
                <a:latin typeface="Calibri" panose="020F0502020204030204"/>
              </a:rPr>
              <a:t>Range Platform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4" name="TextBox 183">
            <a:extLst>
              <a:ext uri="{FF2B5EF4-FFF2-40B4-BE49-F238E27FC236}">
                <a16:creationId xmlns:a16="http://schemas.microsoft.com/office/drawing/2014/main" id="{A2582410-E8C7-BCBA-4DA6-A40C812BA0D5}"/>
              </a:ext>
            </a:extLst>
          </p:cNvPr>
          <p:cNvSpPr txBox="1"/>
          <p:nvPr/>
        </p:nvSpPr>
        <p:spPr>
          <a:xfrm>
            <a:off x="8373714" y="4255545"/>
            <a:ext cx="275299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38A36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Power System Physical World Simulator </a:t>
            </a:r>
            <a:endParaRPr kumimoji="0" lang="en-SG" sz="1100" b="1" i="0" u="none" strike="noStrike" kern="1200" cap="none" spc="0" normalizeH="0" baseline="0" noProof="0" dirty="0">
              <a:ln>
                <a:noFill/>
              </a:ln>
              <a:solidFill>
                <a:srgbClr val="38A36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85" name="Straight Arrow Connector 184">
            <a:extLst>
              <a:ext uri="{FF2B5EF4-FFF2-40B4-BE49-F238E27FC236}">
                <a16:creationId xmlns:a16="http://schemas.microsoft.com/office/drawing/2014/main" id="{4934A718-D638-41C7-5C64-E13028AE4525}"/>
              </a:ext>
            </a:extLst>
          </p:cNvPr>
          <p:cNvCxnSpPr>
            <a:cxnSpLocks/>
          </p:cNvCxnSpPr>
          <p:nvPr/>
        </p:nvCxnSpPr>
        <p:spPr>
          <a:xfrm>
            <a:off x="8197693" y="5491239"/>
            <a:ext cx="343879" cy="0"/>
          </a:xfrm>
          <a:prstGeom prst="straightConnector1">
            <a:avLst/>
          </a:prstGeom>
          <a:ln w="28575">
            <a:solidFill>
              <a:srgbClr val="38A36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1" name="TextBox 190">
            <a:extLst>
              <a:ext uri="{FF2B5EF4-FFF2-40B4-BE49-F238E27FC236}">
                <a16:creationId xmlns:a16="http://schemas.microsoft.com/office/drawing/2014/main" id="{3658CA7F-CD82-34F6-B5F5-65B0360463D4}"/>
              </a:ext>
            </a:extLst>
          </p:cNvPr>
          <p:cNvSpPr txBox="1"/>
          <p:nvPr/>
        </p:nvSpPr>
        <p:spPr>
          <a:xfrm>
            <a:off x="7132320" y="1773122"/>
            <a:ext cx="1110978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D67A3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OCC Power System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D67A3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Scada HMI</a:t>
            </a:r>
            <a:endParaRPr kumimoji="0" lang="en-SG" sz="1100" b="1" i="0" u="none" strike="noStrike" kern="1200" cap="none" spc="0" normalizeH="0" baseline="0" noProof="0" dirty="0">
              <a:ln>
                <a:noFill/>
              </a:ln>
              <a:solidFill>
                <a:srgbClr val="D67A3B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92" name="Straight Arrow Connector 191">
            <a:extLst>
              <a:ext uri="{FF2B5EF4-FFF2-40B4-BE49-F238E27FC236}">
                <a16:creationId xmlns:a16="http://schemas.microsoft.com/office/drawing/2014/main" id="{A665D0C1-94F5-7CC6-6AE1-1734ED77F040}"/>
              </a:ext>
            </a:extLst>
          </p:cNvPr>
          <p:cNvCxnSpPr>
            <a:cxnSpLocks/>
          </p:cNvCxnSpPr>
          <p:nvPr/>
        </p:nvCxnSpPr>
        <p:spPr>
          <a:xfrm>
            <a:off x="7132320" y="2404081"/>
            <a:ext cx="834485" cy="0"/>
          </a:xfrm>
          <a:prstGeom prst="straightConnector1">
            <a:avLst/>
          </a:prstGeom>
          <a:ln w="28575">
            <a:solidFill>
              <a:srgbClr val="D67A3B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822674EC-2600-0C6A-01DA-0996217B3EDE}"/>
              </a:ext>
            </a:extLst>
          </p:cNvPr>
          <p:cNvSpPr txBox="1"/>
          <p:nvPr/>
        </p:nvSpPr>
        <p:spPr>
          <a:xfrm>
            <a:off x="3060467" y="3061570"/>
            <a:ext cx="9430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FF0000"/>
                </a:solidFill>
              </a:rPr>
              <a:t>Modbus </a:t>
            </a:r>
            <a:endParaRPr lang="en-SG" sz="1200" b="1" dirty="0">
              <a:solidFill>
                <a:srgbClr val="FF000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F3E0963-E1AD-EDEF-854C-E39C7938DC7E}"/>
              </a:ext>
            </a:extLst>
          </p:cNvPr>
          <p:cNvSpPr txBox="1"/>
          <p:nvPr/>
        </p:nvSpPr>
        <p:spPr>
          <a:xfrm>
            <a:off x="4341199" y="3068995"/>
            <a:ext cx="9430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92D050"/>
                </a:solidFill>
              </a:rPr>
              <a:t>S7Comm</a:t>
            </a:r>
            <a:r>
              <a:rPr lang="en-US" sz="1200" b="1" dirty="0">
                <a:solidFill>
                  <a:srgbClr val="FF0000"/>
                </a:solidFill>
              </a:rPr>
              <a:t>  </a:t>
            </a:r>
            <a:endParaRPr lang="en-SG" sz="1200" b="1" dirty="0">
              <a:solidFill>
                <a:srgbClr val="FF0000"/>
              </a:solidFill>
            </a:endParaRP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BE722EAA-70EC-9409-A262-6783273A0461}"/>
              </a:ext>
            </a:extLst>
          </p:cNvPr>
          <p:cNvCxnSpPr>
            <a:cxnSpLocks/>
          </p:cNvCxnSpPr>
          <p:nvPr/>
        </p:nvCxnSpPr>
        <p:spPr>
          <a:xfrm>
            <a:off x="2435471" y="4455567"/>
            <a:ext cx="0" cy="540283"/>
          </a:xfrm>
          <a:prstGeom prst="straightConnector1">
            <a:avLst/>
          </a:prstGeom>
          <a:ln>
            <a:solidFill>
              <a:schemeClr val="tx2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517DE0BC-F108-CE2B-8B33-FCE30683765B}"/>
              </a:ext>
            </a:extLst>
          </p:cNvPr>
          <p:cNvCxnSpPr>
            <a:cxnSpLocks/>
          </p:cNvCxnSpPr>
          <p:nvPr/>
        </p:nvCxnSpPr>
        <p:spPr>
          <a:xfrm>
            <a:off x="4092701" y="4455566"/>
            <a:ext cx="0" cy="540283"/>
          </a:xfrm>
          <a:prstGeom prst="straightConnector1">
            <a:avLst/>
          </a:prstGeom>
          <a:ln>
            <a:solidFill>
              <a:schemeClr val="tx2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C70CE1F7-48FA-FB46-13AD-04F8DE3EB47C}"/>
              </a:ext>
            </a:extLst>
          </p:cNvPr>
          <p:cNvSpPr txBox="1"/>
          <p:nvPr/>
        </p:nvSpPr>
        <p:spPr>
          <a:xfrm>
            <a:off x="2628939" y="4631689"/>
            <a:ext cx="219852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00B0F0"/>
                </a:solidFill>
              </a:rPr>
              <a:t>Simulated Electrical signal    </a:t>
            </a:r>
            <a:endParaRPr lang="en-SG" sz="1200" b="1" dirty="0">
              <a:solidFill>
                <a:srgbClr val="00B0F0"/>
              </a:solidFill>
            </a:endParaRPr>
          </a:p>
        </p:txBody>
      </p:sp>
      <p:pic>
        <p:nvPicPr>
          <p:cNvPr id="28" name="Picture 27" descr="A graphic of a power grid&#10;&#10;Description automatically generated">
            <a:extLst>
              <a:ext uri="{FF2B5EF4-FFF2-40B4-BE49-F238E27FC236}">
                <a16:creationId xmlns:a16="http://schemas.microsoft.com/office/drawing/2014/main" id="{1C9968EF-9C80-4190-F678-2DCFF37566E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1826" y="859018"/>
            <a:ext cx="783665" cy="898601"/>
          </a:xfrm>
          <a:prstGeom prst="rect">
            <a:avLst/>
          </a:prstGeom>
          <a:ln w="12700">
            <a:solidFill>
              <a:schemeClr val="tx1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  <a:scene3d>
            <a:camera prst="orthographicFront"/>
            <a:lightRig rig="threePt" dir="t"/>
          </a:scene3d>
          <a:sp3d>
            <a:bevelT w="165100" prst="coolSlant"/>
          </a:sp3d>
        </p:spPr>
      </p:pic>
      <p:pic>
        <p:nvPicPr>
          <p:cNvPr id="57" name="Picture 56" descr="A computer screen shot of a computer&#10;&#10;AI-generated content may be incorrect.">
            <a:extLst>
              <a:ext uri="{FF2B5EF4-FFF2-40B4-BE49-F238E27FC236}">
                <a16:creationId xmlns:a16="http://schemas.microsoft.com/office/drawing/2014/main" id="{70C0E391-FEE0-BF23-7396-B06CFF66B6BC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91665" y="821522"/>
            <a:ext cx="3754185" cy="2017875"/>
          </a:xfrm>
          <a:prstGeom prst="rect">
            <a:avLst/>
          </a:prstGeom>
        </p:spPr>
      </p:pic>
      <p:sp>
        <p:nvSpPr>
          <p:cNvPr id="65" name="Rectangle 64">
            <a:extLst>
              <a:ext uri="{FF2B5EF4-FFF2-40B4-BE49-F238E27FC236}">
                <a16:creationId xmlns:a16="http://schemas.microsoft.com/office/drawing/2014/main" id="{9F741EEA-1080-099D-809C-61638CF5F153}"/>
              </a:ext>
            </a:extLst>
          </p:cNvPr>
          <p:cNvSpPr/>
          <p:nvPr/>
        </p:nvSpPr>
        <p:spPr>
          <a:xfrm>
            <a:off x="6594694" y="5927306"/>
            <a:ext cx="806686" cy="22032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OEM Scope</a:t>
            </a:r>
            <a:endParaRPr kumimoji="0" lang="en-SG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A17FD6DB-5D7C-B519-7189-E5C1AA370728}"/>
              </a:ext>
            </a:extLst>
          </p:cNvPr>
          <p:cNvCxnSpPr>
            <a:cxnSpLocks/>
          </p:cNvCxnSpPr>
          <p:nvPr/>
        </p:nvCxnSpPr>
        <p:spPr>
          <a:xfrm flipV="1">
            <a:off x="7200489" y="4405384"/>
            <a:ext cx="205" cy="1514784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Rectangle 62">
            <a:extLst>
              <a:ext uri="{FF2B5EF4-FFF2-40B4-BE49-F238E27FC236}">
                <a16:creationId xmlns:a16="http://schemas.microsoft.com/office/drawing/2014/main" id="{D5C1CF21-4934-438F-4445-2CE9CED785AE}"/>
              </a:ext>
            </a:extLst>
          </p:cNvPr>
          <p:cNvSpPr/>
          <p:nvPr/>
        </p:nvSpPr>
        <p:spPr>
          <a:xfrm>
            <a:off x="6608138" y="5628120"/>
            <a:ext cx="910048" cy="22032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DC Interface</a:t>
            </a:r>
            <a:endParaRPr kumimoji="0" lang="en-SG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6375F79C-6052-BCB1-7313-4A07C0F4F524}"/>
              </a:ext>
            </a:extLst>
          </p:cNvPr>
          <p:cNvSpPr/>
          <p:nvPr/>
        </p:nvSpPr>
        <p:spPr>
          <a:xfrm>
            <a:off x="6595180" y="5324778"/>
            <a:ext cx="723036" cy="22032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>
              <a:defRPr/>
            </a:pPr>
            <a:r>
              <a:rPr lang="en-US" sz="1000" b="1" dirty="0">
                <a:solidFill>
                  <a:prstClr val="black"/>
                </a:solidFill>
                <a:latin typeface="Calibri" panose="020F0502020204030204"/>
              </a:rPr>
              <a:t>Auto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BMS</a:t>
            </a:r>
            <a:endParaRPr kumimoji="0" lang="en-SG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4DC52C53-3308-4315-B578-70DA57C06E4C}"/>
              </a:ext>
            </a:extLst>
          </p:cNvPr>
          <p:cNvSpPr/>
          <p:nvPr/>
        </p:nvSpPr>
        <p:spPr>
          <a:xfrm>
            <a:off x="6588724" y="5000139"/>
            <a:ext cx="998189" cy="22032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>
              <a:defRPr/>
            </a:pPr>
            <a:r>
              <a:rPr lang="en-SG" sz="1000" b="1" dirty="0">
                <a:solidFill>
                  <a:prstClr val="black"/>
                </a:solidFill>
                <a:latin typeface="Calibri" panose="020F0502020204030204"/>
              </a:rPr>
              <a:t>BESS Controller </a:t>
            </a:r>
            <a:endParaRPr kumimoji="0" lang="en-SG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73" name="Picture 72" descr="A grey electronic device with buttons&#10;&#10;AI-generated content may be incorrect.">
            <a:extLst>
              <a:ext uri="{FF2B5EF4-FFF2-40B4-BE49-F238E27FC236}">
                <a16:creationId xmlns:a16="http://schemas.microsoft.com/office/drawing/2014/main" id="{01E6373E-6465-2CCD-8194-C05DFCADB9FE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39462" y="3906899"/>
            <a:ext cx="520666" cy="520666"/>
          </a:xfrm>
          <a:prstGeom prst="rect">
            <a:avLst/>
          </a:prstGeom>
        </p:spPr>
      </p:pic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8784BEBE-B493-D875-E38B-38D868164FDD}"/>
              </a:ext>
            </a:extLst>
          </p:cNvPr>
          <p:cNvCxnSpPr>
            <a:cxnSpLocks/>
          </p:cNvCxnSpPr>
          <p:nvPr/>
        </p:nvCxnSpPr>
        <p:spPr>
          <a:xfrm>
            <a:off x="7015170" y="4402803"/>
            <a:ext cx="0" cy="568285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1687C988-39B8-9B9F-7D46-7B6BAAB223C3}"/>
              </a:ext>
            </a:extLst>
          </p:cNvPr>
          <p:cNvSpPr txBox="1"/>
          <p:nvPr/>
        </p:nvSpPr>
        <p:spPr>
          <a:xfrm>
            <a:off x="6788231" y="3496271"/>
            <a:ext cx="88085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SG" sz="11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/>
              </a:rPr>
              <a:t>BESS Control PLC</a:t>
            </a:r>
            <a:endParaRPr kumimoji="0" lang="en-SG" sz="1100" b="1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78" name="Connector: Elbow 77">
            <a:extLst>
              <a:ext uri="{FF2B5EF4-FFF2-40B4-BE49-F238E27FC236}">
                <a16:creationId xmlns:a16="http://schemas.microsoft.com/office/drawing/2014/main" id="{77743FA2-B15A-B417-0FDE-3900B37A1223}"/>
              </a:ext>
            </a:extLst>
          </p:cNvPr>
          <p:cNvCxnSpPr>
            <a:cxnSpLocks/>
            <a:stCxn id="73" idx="0"/>
          </p:cNvCxnSpPr>
          <p:nvPr/>
        </p:nvCxnSpPr>
        <p:spPr>
          <a:xfrm rot="16200000" flipV="1">
            <a:off x="5122858" y="1929962"/>
            <a:ext cx="919085" cy="3034790"/>
          </a:xfrm>
          <a:prstGeom prst="bentConnector2">
            <a:avLst/>
          </a:prstGeom>
          <a:ln>
            <a:solidFill>
              <a:schemeClr val="tx2">
                <a:lumMod val="25000"/>
                <a:lumOff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>
            <a:extLst>
              <a:ext uri="{FF2B5EF4-FFF2-40B4-BE49-F238E27FC236}">
                <a16:creationId xmlns:a16="http://schemas.microsoft.com/office/drawing/2014/main" id="{13B32402-4203-7A2F-DBE0-5F85791C2D3E}"/>
              </a:ext>
            </a:extLst>
          </p:cNvPr>
          <p:cNvSpPr txBox="1"/>
          <p:nvPr/>
        </p:nvSpPr>
        <p:spPr>
          <a:xfrm>
            <a:off x="6074519" y="3046528"/>
            <a:ext cx="121774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Calibri" panose="020F0502020204030204"/>
              </a:rPr>
              <a:t>IEC60870-104</a:t>
            </a:r>
            <a:r>
              <a:rPr lang="en-US" sz="1200" b="1" dirty="0">
                <a:solidFill>
                  <a:srgbClr val="FF0000"/>
                </a:solidFill>
              </a:rPr>
              <a:t>  </a:t>
            </a:r>
            <a:endParaRPr lang="en-SG" sz="1200" b="1" dirty="0">
              <a:solidFill>
                <a:srgbClr val="FF0000"/>
              </a:solidFill>
            </a:endParaRPr>
          </a:p>
        </p:txBody>
      </p:sp>
      <p:cxnSp>
        <p:nvCxnSpPr>
          <p:cNvPr id="87" name="Connector: Elbow 86">
            <a:extLst>
              <a:ext uri="{FF2B5EF4-FFF2-40B4-BE49-F238E27FC236}">
                <a16:creationId xmlns:a16="http://schemas.microsoft.com/office/drawing/2014/main" id="{264448F1-5C2E-026B-4A6A-A3B57068059B}"/>
              </a:ext>
            </a:extLst>
          </p:cNvPr>
          <p:cNvCxnSpPr>
            <a:stCxn id="66" idx="2"/>
            <a:endCxn id="18" idx="3"/>
          </p:cNvCxnSpPr>
          <p:nvPr/>
        </p:nvCxnSpPr>
        <p:spPr>
          <a:xfrm rot="5400000">
            <a:off x="5977056" y="4716308"/>
            <a:ext cx="701122" cy="79274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0" name="Picture 29">
            <a:extLst>
              <a:ext uri="{FF2B5EF4-FFF2-40B4-BE49-F238E27FC236}">
                <a16:creationId xmlns:a16="http://schemas.microsoft.com/office/drawing/2014/main" id="{78E1753B-E406-7FC5-57E2-4BD150FFD37A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526992" y="4515987"/>
            <a:ext cx="3335524" cy="1792844"/>
          </a:xfrm>
          <a:prstGeom prst="rect">
            <a:avLst/>
          </a:prstGeom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1EE87ABF-A5FA-06EC-8560-E648E6B296DC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145523" y="2995182"/>
            <a:ext cx="2691679" cy="1280819"/>
          </a:xfrm>
          <a:prstGeom prst="rect">
            <a:avLst/>
          </a:prstGeom>
          <a:ln w="12700">
            <a:solidFill>
              <a:schemeClr val="bg1"/>
            </a:solidFill>
          </a:ln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18AA6FC4-9C25-F3B9-1904-28453B6382C2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714972" y="2543016"/>
            <a:ext cx="320008" cy="382036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sp>
        <p:nvSpPr>
          <p:cNvPr id="45" name="TextBox 44">
            <a:extLst>
              <a:ext uri="{FF2B5EF4-FFF2-40B4-BE49-F238E27FC236}">
                <a16:creationId xmlns:a16="http://schemas.microsoft.com/office/drawing/2014/main" id="{33B4C7D8-A7DF-340C-F47B-1D8E9A15E1C8}"/>
              </a:ext>
            </a:extLst>
          </p:cNvPr>
          <p:cNvSpPr txBox="1"/>
          <p:nvPr/>
        </p:nvSpPr>
        <p:spPr>
          <a:xfrm>
            <a:off x="8213058" y="3080106"/>
            <a:ext cx="993913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100" b="1" dirty="0">
                <a:solidFill>
                  <a:srgbClr val="F4C54F"/>
                </a:solidFill>
                <a:latin typeface="Calibri" panose="020F0502020204030204"/>
              </a:rPr>
              <a:t>Local Thermal State monitor HMI </a:t>
            </a:r>
            <a:endParaRPr kumimoji="0" lang="en-SG" sz="1100" b="1" i="0" u="none" strike="noStrike" kern="1200" cap="none" spc="0" normalizeH="0" baseline="0" noProof="0" dirty="0">
              <a:ln>
                <a:noFill/>
              </a:ln>
              <a:solidFill>
                <a:srgbClr val="F4C54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CDD76F15-E9C9-1A77-C3E2-64389112E888}"/>
              </a:ext>
            </a:extLst>
          </p:cNvPr>
          <p:cNvSpPr/>
          <p:nvPr/>
        </p:nvSpPr>
        <p:spPr>
          <a:xfrm>
            <a:off x="7616792" y="5468213"/>
            <a:ext cx="596265" cy="490821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IoT sensor </a:t>
            </a:r>
            <a:endParaRPr kumimoji="0" lang="en-SG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24CE7E8F-7F1B-937B-CA2D-B26BECE4D521}"/>
              </a:ext>
            </a:extLst>
          </p:cNvPr>
          <p:cNvCxnSpPr>
            <a:cxnSpLocks/>
          </p:cNvCxnSpPr>
          <p:nvPr/>
        </p:nvCxnSpPr>
        <p:spPr>
          <a:xfrm flipV="1">
            <a:off x="7824339" y="4496241"/>
            <a:ext cx="0" cy="963761"/>
          </a:xfrm>
          <a:prstGeom prst="straightConnector1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83041946-2301-E151-88C4-58CAC42ABA96}"/>
              </a:ext>
            </a:extLst>
          </p:cNvPr>
          <p:cNvCxnSpPr>
            <a:cxnSpLocks/>
          </p:cNvCxnSpPr>
          <p:nvPr/>
        </p:nvCxnSpPr>
        <p:spPr>
          <a:xfrm>
            <a:off x="6163188" y="2763211"/>
            <a:ext cx="551784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TextBox 82">
            <a:extLst>
              <a:ext uri="{FF2B5EF4-FFF2-40B4-BE49-F238E27FC236}">
                <a16:creationId xmlns:a16="http://schemas.microsoft.com/office/drawing/2014/main" id="{0848D98E-A972-F633-5C87-8C9B0FCFCD5D}"/>
              </a:ext>
            </a:extLst>
          </p:cNvPr>
          <p:cNvSpPr txBox="1"/>
          <p:nvPr/>
        </p:nvSpPr>
        <p:spPr>
          <a:xfrm>
            <a:off x="6529871" y="2101946"/>
            <a:ext cx="80827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5G Receiver</a:t>
            </a:r>
            <a:endParaRPr kumimoji="0" lang="en-SG" sz="11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84" name="Picture 83">
            <a:extLst>
              <a:ext uri="{FF2B5EF4-FFF2-40B4-BE49-F238E27FC236}">
                <a16:creationId xmlns:a16="http://schemas.microsoft.com/office/drawing/2014/main" id="{90FFBE34-5184-B44D-F7FD-70C47D846B88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554827" y="3916883"/>
            <a:ext cx="574331" cy="517924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88" name="TextBox 87">
            <a:extLst>
              <a:ext uri="{FF2B5EF4-FFF2-40B4-BE49-F238E27FC236}">
                <a16:creationId xmlns:a16="http://schemas.microsoft.com/office/drawing/2014/main" id="{21BA3FBB-02F4-8F52-599E-6940509D4F78}"/>
              </a:ext>
            </a:extLst>
          </p:cNvPr>
          <p:cNvSpPr txBox="1"/>
          <p:nvPr/>
        </p:nvSpPr>
        <p:spPr>
          <a:xfrm>
            <a:off x="7512242" y="3526659"/>
            <a:ext cx="88085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5G IoT Gateway</a:t>
            </a:r>
            <a:endParaRPr kumimoji="0" lang="en-SG" sz="1100" b="1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94" name="Connector: Elbow 93">
            <a:extLst>
              <a:ext uri="{FF2B5EF4-FFF2-40B4-BE49-F238E27FC236}">
                <a16:creationId xmlns:a16="http://schemas.microsoft.com/office/drawing/2014/main" id="{CA5498F7-47D5-B865-BAB6-6B0B7711680D}"/>
              </a:ext>
            </a:extLst>
          </p:cNvPr>
          <p:cNvCxnSpPr>
            <a:endCxn id="44" idx="3"/>
          </p:cNvCxnSpPr>
          <p:nvPr/>
        </p:nvCxnSpPr>
        <p:spPr>
          <a:xfrm rot="16200000" flipV="1">
            <a:off x="6827860" y="2941154"/>
            <a:ext cx="1200070" cy="785829"/>
          </a:xfrm>
          <a:prstGeom prst="bentConnector2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DBEA9D32-D246-F4AC-1298-A3643FBAB132}"/>
              </a:ext>
            </a:extLst>
          </p:cNvPr>
          <p:cNvSpPr txBox="1"/>
          <p:nvPr/>
        </p:nvSpPr>
        <p:spPr>
          <a:xfrm>
            <a:off x="7234651" y="2835623"/>
            <a:ext cx="121774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MQTT Via 5G network  </a:t>
            </a:r>
            <a:endParaRPr lang="en-SG" sz="1200" b="1" dirty="0">
              <a:solidFill>
                <a:schemeClr val="accent5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AB0790EF-24F7-0A08-8C4F-528BAE85B921}"/>
              </a:ext>
            </a:extLst>
          </p:cNvPr>
          <p:cNvSpPr txBox="1"/>
          <p:nvPr/>
        </p:nvSpPr>
        <p:spPr>
          <a:xfrm>
            <a:off x="7513054" y="4937797"/>
            <a:ext cx="121774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accent5">
                    <a:lumMod val="75000"/>
                  </a:schemeClr>
                </a:solidFill>
              </a:rPr>
              <a:t>2.4G WIFI Network</a:t>
            </a:r>
            <a:endParaRPr lang="en-SG" sz="1200" b="1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111" name="Connector: Elbow 110">
            <a:extLst>
              <a:ext uri="{FF2B5EF4-FFF2-40B4-BE49-F238E27FC236}">
                <a16:creationId xmlns:a16="http://schemas.microsoft.com/office/drawing/2014/main" id="{54FAAF21-4257-3B27-4360-EDD8E3160CA3}"/>
              </a:ext>
            </a:extLst>
          </p:cNvPr>
          <p:cNvCxnSpPr>
            <a:cxnSpLocks/>
            <a:stCxn id="84" idx="3"/>
            <a:endCxn id="40" idx="1"/>
          </p:cNvCxnSpPr>
          <p:nvPr/>
        </p:nvCxnSpPr>
        <p:spPr>
          <a:xfrm flipV="1">
            <a:off x="8129158" y="3635592"/>
            <a:ext cx="1016365" cy="540253"/>
          </a:xfrm>
          <a:prstGeom prst="bentConnector3">
            <a:avLst/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54364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249</TotalTime>
  <Words>184</Words>
  <Application>Microsoft Office PowerPoint</Application>
  <PresentationFormat>Widescreen</PresentationFormat>
  <Paragraphs>68</Paragraphs>
  <Slides>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Aptos</vt:lpstr>
      <vt:lpstr>Aptos Display</vt:lpstr>
      <vt:lpstr>Arial</vt:lpstr>
      <vt:lpstr>Calibri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yuancheng Liu</dc:creator>
  <cp:lastModifiedBy>yuancheng Liu</cp:lastModifiedBy>
  <cp:revision>4</cp:revision>
  <dcterms:created xsi:type="dcterms:W3CDTF">2026-06-19T03:02:39Z</dcterms:created>
  <dcterms:modified xsi:type="dcterms:W3CDTF">2026-06-19T07:11:57Z</dcterms:modified>
</cp:coreProperties>
</file>