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69" r:id="rId3"/>
    <p:sldId id="270" r:id="rId4"/>
    <p:sldId id="259" r:id="rId5"/>
    <p:sldId id="271" r:id="rId6"/>
    <p:sldId id="27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98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2FBF22-D265-4007-B382-98D1AEF44D2E}" type="datetimeFigureOut">
              <a:rPr lang="en-SG" smtClean="0"/>
              <a:t>21/6/2026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D9CFC9-68F1-45DE-BFA9-904F85FD4D8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49480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2BD866-A9C0-2CFB-9964-FE2A952B3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E83769-159B-DAC2-81CD-39D131D03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D70F10-C2C7-9714-165D-F80B7BC9D9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472BC3-F09B-048B-9A07-5FE7398C43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A4C87-30FF-4E0D-9FFA-CCB73B1DE919}" type="slidenum">
              <a:rPr lang="en-SG" smtClean="0"/>
              <a:t>2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281832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BF6B7D6-7851-49B5-BE5D-D00B7BAA4937}" type="slidenum">
              <a:rPr lang="en-SG" smtClean="0"/>
              <a:t>4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079340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9CFC9-68F1-45DE-BFA9-904F85FD4D8B}" type="slidenum">
              <a:rPr lang="en-SG" smtClean="0"/>
              <a:t>5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458967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7DF35-9951-9F00-CA7A-39FA119403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899066-101F-52DE-933E-68ABF41213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FFCC71-91F3-7282-8D87-C1D0E5DD8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21/6/2026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66C19A-30F4-D18D-847E-EAB145578E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97EDD3-C243-FAE7-E5D7-566354B2F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12854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DA732-405B-F327-4953-305A298D0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6FF994-15FB-79E8-5718-232E573AC1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804587-FAB6-A7D7-FA0A-768DF8D5F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21/6/2026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165AC5-14A1-1E46-3D1C-38F2508B6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2F9489-07EF-C7E1-5E86-43343B07C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49990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81453-4D70-0DFC-5728-52DA75A67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F1EBB2-8AD8-4DFD-3FA6-6140589AE1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B240B0-4632-CF3C-21B9-C20FD52AC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21/6/2026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FD9BB8-8DA5-36ED-E90F-4254D8555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C443BB-5D04-C9B1-1B88-1BE2BE8D9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63918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2C0FD-BBEB-68AF-0C73-83BB6095B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C28832-4512-20FC-9A62-BB7E4BDEBB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7F0CCA-CBDF-F0AD-EC72-F90BF00FD7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7854ED-A47E-E2A5-93A0-B0EFE87B4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21/6/2026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EB73B2-24D9-CA7A-15B2-F66D260DF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9999CD-31A9-5D8C-0682-ADB3F13F5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755809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E1AF9-F57B-F1F6-B202-ED63295F0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DAA51-3F1F-BCDB-5D02-5CB0503B65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5F3C3D-4108-5276-62A6-A5E7D64D00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12D058-5FED-D658-D4E2-BF0DC28F98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30E10F-EDDD-44EB-3C69-D8B2BFE383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F2E921-08C2-55EC-195C-2D32C3A62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21/6/2026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4F93C6B-0861-795E-9784-99C6DBB80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0A6E87-261F-3242-C9A9-0AB649C0B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052175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3B08D-088A-767C-D61B-99C00C077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A7D1AD9-620C-4753-D038-FF7BF4B02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21/6/2026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F2E561-3C6C-F756-D07B-1B0EEA625C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8E5BC3-ED21-BD9B-749D-D6CC6B5C6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74947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344EB87-51EB-AB23-F225-86BF8330F4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21/6/2026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06982A-C836-F6CD-3EF2-A53E1B033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619B10-698C-C386-0BDB-D257E18E5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0019743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8758F-531D-0DBA-69D8-69F4BCF76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6490F-5AD5-8865-F4B1-D0913F65E7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C69032-B898-D946-BA87-26A406BEAC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03C4C8-0EB3-6E64-ECAD-4B9280C2C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21/6/2026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EA70C0-DE8A-7205-68E2-2EB479A91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F6A07A-4FEA-66CC-5364-623C48637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776902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840F6-C9E3-BB8A-C846-5228E184E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8A5F28-B99C-1F66-445B-C9ADE9235D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143A97-4A8B-F149-22D1-BC3B03D9AA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096FFD-0BE0-FCCD-B8EB-F73939A43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21/6/2026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AEA750-DA81-61BD-D7D0-EB086B004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6BF91D-41C0-9E50-C7B2-DE5D2997B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67613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6F963-B09E-1606-4A58-F41536E5D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6C5543-FA41-5EEF-B734-6054CB70AA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368E97-6F86-1319-B498-6397BC1B5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21/6/2026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C1EF5E-C437-FABD-8F7B-4B479AA2E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A1C4D5-0A87-8A42-B161-344BB308C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2994569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7884BD-6AB5-BD1C-C866-40E357A590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DA4250-AE28-30CB-EECF-E4A4A1C593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565E43-63D1-AE85-D26C-5B14EEB61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21/6/2026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AAFD90-F8ED-FA3E-F9E1-FACD44784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215732-4BD5-978A-7240-8C10742D4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72198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AA9EB2-70D3-AE6D-A7AF-46695A276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5E322B-03B0-DC0A-580A-2AFA5D3E7C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DC9350-AB6A-A4EA-74F6-5C0808D5C9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6E59C2-7C94-434E-8336-162F25205750}" type="datetimeFigureOut">
              <a:rPr lang="en-SG" smtClean="0"/>
              <a:t>21/6/2026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EDAD80-56F7-4FF6-9C00-B53D1045B0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B2D954-EACD-8A7A-B144-82BDFEDBD9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449408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3" Type="http://schemas.openxmlformats.org/officeDocument/2006/relationships/image" Target="../media/image10.png"/><Relationship Id="rId7" Type="http://schemas.openxmlformats.org/officeDocument/2006/relationships/image" Target="../media/image14.svg"/><Relationship Id="rId12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svg"/><Relationship Id="rId11" Type="http://schemas.openxmlformats.org/officeDocument/2006/relationships/image" Target="../media/image18.png"/><Relationship Id="rId5" Type="http://schemas.openxmlformats.org/officeDocument/2006/relationships/image" Target="../media/image12.svg"/><Relationship Id="rId10" Type="http://schemas.openxmlformats.org/officeDocument/2006/relationships/image" Target="../media/image17.png"/><Relationship Id="rId4" Type="http://schemas.openxmlformats.org/officeDocument/2006/relationships/image" Target="../media/image11.jpeg"/><Relationship Id="rId9" Type="http://schemas.openxmlformats.org/officeDocument/2006/relationships/image" Target="../media/image16.png"/><Relationship Id="rId1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AEA0E0FB-FB59-A70E-B6FC-840F505F35EF}"/>
              </a:ext>
            </a:extLst>
          </p:cNvPr>
          <p:cNvCxnSpPr>
            <a:cxnSpLocks/>
            <a:stCxn id="5" idx="1"/>
          </p:cNvCxnSpPr>
          <p:nvPr/>
        </p:nvCxnSpPr>
        <p:spPr>
          <a:xfrm>
            <a:off x="1324227" y="2151824"/>
            <a:ext cx="68541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298FB989-D666-CF38-59CB-3135E79D0D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4227" y="1549689"/>
            <a:ext cx="1074500" cy="12042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6E871C5-75FB-E1D5-EA35-82A2607EE0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5402" y="1549687"/>
            <a:ext cx="1235823" cy="12042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DFD5544-C495-0B90-561D-290C424B8F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0503" y="1549687"/>
            <a:ext cx="1173124" cy="120426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AAB65C3-3239-F456-A37C-2649C91658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3000" y="1549687"/>
            <a:ext cx="1892423" cy="120426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A831A01-E6C5-4875-6BF5-6B38537F587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1396" y="2908838"/>
            <a:ext cx="520162" cy="52016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1115D54-CAC1-F9B9-A3F4-CCF969EB6B6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6984" y="2908838"/>
            <a:ext cx="520162" cy="52016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0EE64FF-CC09-DC41-8A21-A1B607A0506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3232" y="2908838"/>
            <a:ext cx="520162" cy="52016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03BD390-3913-45AF-D177-5A444678232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608" y="2908838"/>
            <a:ext cx="520162" cy="52016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1B69A18-721C-F035-1635-316712479AF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37051" y="3883572"/>
            <a:ext cx="780027" cy="83864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A55FAF5-1F53-8583-D6E3-43EB600186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16505" y="4722214"/>
            <a:ext cx="1173124" cy="105790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80B3129-8E3C-B4CA-4E32-3DB9A88B639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87930" y="4788148"/>
            <a:ext cx="1500753" cy="95555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61E098B1-B1B1-61A6-DA25-45ECD8D23EF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18689" y="3583882"/>
            <a:ext cx="2519756" cy="2486271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48E9637A-100D-A025-8C6E-67A215917FF0}"/>
              </a:ext>
            </a:extLst>
          </p:cNvPr>
          <p:cNvSpPr/>
          <p:nvPr/>
        </p:nvSpPr>
        <p:spPr>
          <a:xfrm>
            <a:off x="1261556" y="1056250"/>
            <a:ext cx="1720003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Power Grid Transformers 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439A719-B205-6E38-F0F1-AAC8C5318EAD}"/>
              </a:ext>
            </a:extLst>
          </p:cNvPr>
          <p:cNvSpPr/>
          <p:nvPr/>
        </p:nvSpPr>
        <p:spPr>
          <a:xfrm>
            <a:off x="2696502" y="1168417"/>
            <a:ext cx="1720003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Cable Connector 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92C1192-FC5C-8CAE-BEB2-48CB72A82B5B}"/>
              </a:ext>
            </a:extLst>
          </p:cNvPr>
          <p:cNvSpPr/>
          <p:nvPr/>
        </p:nvSpPr>
        <p:spPr>
          <a:xfrm>
            <a:off x="4240577" y="1056249"/>
            <a:ext cx="1892423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High Voltage Power Transmission Cable 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E5E7494-905C-EDBF-F13D-5797E2EC0F73}"/>
              </a:ext>
            </a:extLst>
          </p:cNvPr>
          <p:cNvSpPr/>
          <p:nvPr/>
        </p:nvSpPr>
        <p:spPr>
          <a:xfrm>
            <a:off x="6172477" y="1076919"/>
            <a:ext cx="1892423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Battery Based Power Storage System </a:t>
            </a:r>
            <a:endParaRPr lang="en-SG" sz="1400" b="1" dirty="0">
              <a:solidFill>
                <a:schemeClr val="tx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8372399-45A6-79AA-4C88-BF006697B67E}"/>
              </a:ext>
            </a:extLst>
          </p:cNvPr>
          <p:cNvCxnSpPr>
            <a:stCxn id="5" idx="2"/>
            <a:endCxn id="15" idx="0"/>
          </p:cNvCxnSpPr>
          <p:nvPr/>
        </p:nvCxnSpPr>
        <p:spPr>
          <a:xfrm>
            <a:off x="1861477" y="2753959"/>
            <a:ext cx="0" cy="15487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B60F01B-D512-A2DB-CDBE-2182798DD6FC}"/>
              </a:ext>
            </a:extLst>
          </p:cNvPr>
          <p:cNvCxnSpPr>
            <a:stCxn id="9" idx="2"/>
            <a:endCxn id="16" idx="0"/>
          </p:cNvCxnSpPr>
          <p:nvPr/>
        </p:nvCxnSpPr>
        <p:spPr>
          <a:xfrm>
            <a:off x="3427065" y="2753956"/>
            <a:ext cx="0" cy="1548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3560BCE-A221-2566-5EB2-57ECB97686C3}"/>
              </a:ext>
            </a:extLst>
          </p:cNvPr>
          <p:cNvCxnSpPr/>
          <p:nvPr/>
        </p:nvCxnSpPr>
        <p:spPr>
          <a:xfrm>
            <a:off x="5073313" y="2753956"/>
            <a:ext cx="0" cy="1548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E1E2F20-505C-3CD9-3E3C-9FC0275E5272}"/>
              </a:ext>
            </a:extLst>
          </p:cNvPr>
          <p:cNvCxnSpPr>
            <a:cxnSpLocks/>
          </p:cNvCxnSpPr>
          <p:nvPr/>
        </p:nvCxnSpPr>
        <p:spPr>
          <a:xfrm>
            <a:off x="7133002" y="2753956"/>
            <a:ext cx="0" cy="1548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7B8EFCC4-0CAC-B411-A19E-B56FF7CBC37F}"/>
              </a:ext>
            </a:extLst>
          </p:cNvPr>
          <p:cNvCxnSpPr>
            <a:stCxn id="15" idx="2"/>
            <a:endCxn id="20" idx="0"/>
          </p:cNvCxnSpPr>
          <p:nvPr/>
        </p:nvCxnSpPr>
        <p:spPr>
          <a:xfrm rot="16200000" flipH="1">
            <a:off x="2416985" y="2873492"/>
            <a:ext cx="454572" cy="1565588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137D5DCA-9D92-994B-403E-216E5563140E}"/>
              </a:ext>
            </a:extLst>
          </p:cNvPr>
          <p:cNvCxnSpPr>
            <a:cxnSpLocks/>
            <a:stCxn id="18" idx="2"/>
            <a:endCxn id="20" idx="0"/>
          </p:cNvCxnSpPr>
          <p:nvPr/>
        </p:nvCxnSpPr>
        <p:spPr>
          <a:xfrm rot="5400000">
            <a:off x="5045591" y="1810474"/>
            <a:ext cx="454572" cy="3691624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4CAE8A6-5CFD-FC91-DAA8-E0BC057261F3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3427065" y="3429000"/>
            <a:ext cx="0" cy="25011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D0AFB01-AF7A-5114-5EE5-64F37025E471}"/>
              </a:ext>
            </a:extLst>
          </p:cNvPr>
          <p:cNvCxnSpPr>
            <a:cxnSpLocks/>
          </p:cNvCxnSpPr>
          <p:nvPr/>
        </p:nvCxnSpPr>
        <p:spPr>
          <a:xfrm flipV="1">
            <a:off x="5073313" y="3428999"/>
            <a:ext cx="0" cy="25011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119DAD5-236F-C3AF-5003-4B0D4129B9EE}"/>
              </a:ext>
            </a:extLst>
          </p:cNvPr>
          <p:cNvCxnSpPr>
            <a:cxnSpLocks/>
            <a:stCxn id="22" idx="1"/>
            <a:endCxn id="24" idx="3"/>
          </p:cNvCxnSpPr>
          <p:nvPr/>
        </p:nvCxnSpPr>
        <p:spPr>
          <a:xfrm flipH="1">
            <a:off x="2788683" y="5251168"/>
            <a:ext cx="1627822" cy="14759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3082A48D-BA59-8273-C68F-FCEFEE1C787B}"/>
              </a:ext>
            </a:extLst>
          </p:cNvPr>
          <p:cNvCxnSpPr>
            <a:cxnSpLocks/>
            <a:endCxn id="20" idx="2"/>
          </p:cNvCxnSpPr>
          <p:nvPr/>
        </p:nvCxnSpPr>
        <p:spPr>
          <a:xfrm flipV="1">
            <a:off x="3427064" y="4722214"/>
            <a:ext cx="1" cy="528953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502DD2CD-75EE-BD41-967F-1573138882A5}"/>
              </a:ext>
            </a:extLst>
          </p:cNvPr>
          <p:cNvSpPr/>
          <p:nvPr/>
        </p:nvSpPr>
        <p:spPr>
          <a:xfrm>
            <a:off x="2337760" y="3943520"/>
            <a:ext cx="1089304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WIFI Antenna 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6FF1E7D-F0FD-C0AD-3BE2-428DD7F9B86A}"/>
              </a:ext>
            </a:extLst>
          </p:cNvPr>
          <p:cNvSpPr/>
          <p:nvPr/>
        </p:nvSpPr>
        <p:spPr>
          <a:xfrm>
            <a:off x="3832992" y="3667273"/>
            <a:ext cx="2246264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accent6">
                    <a:lumMod val="75000"/>
                  </a:schemeClr>
                </a:solidFill>
              </a:rPr>
              <a:t>2.4GHz WIFI network </a:t>
            </a:r>
            <a:endParaRPr lang="en-SG" sz="14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39E0F85-30DF-962B-8280-F3C94701448B}"/>
              </a:ext>
            </a:extLst>
          </p:cNvPr>
          <p:cNvSpPr/>
          <p:nvPr/>
        </p:nvSpPr>
        <p:spPr>
          <a:xfrm>
            <a:off x="2930961" y="5390392"/>
            <a:ext cx="1772234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accent6">
                    <a:lumMod val="75000"/>
                  </a:schemeClr>
                </a:solidFill>
              </a:rPr>
              <a:t>2.4GHz WIFI network </a:t>
            </a:r>
            <a:endParaRPr lang="en-SG" sz="14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BBB4DC74-229A-1B71-E3B6-4BB7570E5ECF}"/>
              </a:ext>
            </a:extLst>
          </p:cNvPr>
          <p:cNvSpPr/>
          <p:nvPr/>
        </p:nvSpPr>
        <p:spPr>
          <a:xfrm>
            <a:off x="5333393" y="2970525"/>
            <a:ext cx="1274011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IOT Thermal Sensors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70473F5-595E-EBC5-262B-F86E5A48F7B2}"/>
              </a:ext>
            </a:extLst>
          </p:cNvPr>
          <p:cNvSpPr/>
          <p:nvPr/>
        </p:nvSpPr>
        <p:spPr>
          <a:xfrm>
            <a:off x="1258531" y="4449593"/>
            <a:ext cx="1672429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Local Monitor HMI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DBC49AFF-E9CB-8CFF-3798-C8BE7C7FFD85}"/>
              </a:ext>
            </a:extLst>
          </p:cNvPr>
          <p:cNvSpPr/>
          <p:nvPr/>
        </p:nvSpPr>
        <p:spPr>
          <a:xfrm>
            <a:off x="4297969" y="4299570"/>
            <a:ext cx="1672429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5G IoT Gateway</a:t>
            </a:r>
            <a:endParaRPr lang="en-SG" sz="1400" b="1" dirty="0">
              <a:solidFill>
                <a:schemeClr val="tx1"/>
              </a:solidFill>
            </a:endParaRP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D3C835D-5B0D-CFA1-6EE5-9D66B41B0438}"/>
              </a:ext>
            </a:extLst>
          </p:cNvPr>
          <p:cNvCxnSpPr>
            <a:cxnSpLocks/>
            <a:endCxn id="22" idx="3"/>
          </p:cNvCxnSpPr>
          <p:nvPr/>
        </p:nvCxnSpPr>
        <p:spPr>
          <a:xfrm flipH="1">
            <a:off x="5589629" y="4618870"/>
            <a:ext cx="582848" cy="632298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796C789A-D7BB-5E10-076C-6DC5D9A5DF2C}"/>
              </a:ext>
            </a:extLst>
          </p:cNvPr>
          <p:cNvSpPr/>
          <p:nvPr/>
        </p:nvSpPr>
        <p:spPr>
          <a:xfrm>
            <a:off x="5967233" y="4707776"/>
            <a:ext cx="1267897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5G Network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BB62381-9AAA-07FE-8485-40561EEC8BB3}"/>
              </a:ext>
            </a:extLst>
          </p:cNvPr>
          <p:cNvSpPr/>
          <p:nvPr/>
        </p:nvSpPr>
        <p:spPr>
          <a:xfrm>
            <a:off x="8500471" y="5610843"/>
            <a:ext cx="1521136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Power Grid Control Center 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73" name="Cloud 72">
            <a:extLst>
              <a:ext uri="{FF2B5EF4-FFF2-40B4-BE49-F238E27FC236}">
                <a16:creationId xmlns:a16="http://schemas.microsoft.com/office/drawing/2014/main" id="{4D4BAAC7-2FAF-631B-B60A-53C3B8CA4A24}"/>
              </a:ext>
            </a:extLst>
          </p:cNvPr>
          <p:cNvSpPr/>
          <p:nvPr/>
        </p:nvSpPr>
        <p:spPr>
          <a:xfrm>
            <a:off x="5970398" y="3943520"/>
            <a:ext cx="1104775" cy="732464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361316F3-4003-400B-315F-B2EE63B02920}"/>
              </a:ext>
            </a:extLst>
          </p:cNvPr>
          <p:cNvCxnSpPr>
            <a:cxnSpLocks/>
          </p:cNvCxnSpPr>
          <p:nvPr/>
        </p:nvCxnSpPr>
        <p:spPr>
          <a:xfrm flipH="1">
            <a:off x="7075173" y="4090168"/>
            <a:ext cx="820940" cy="22629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0" name="Rectangle 79">
            <a:extLst>
              <a:ext uri="{FF2B5EF4-FFF2-40B4-BE49-F238E27FC236}">
                <a16:creationId xmlns:a16="http://schemas.microsoft.com/office/drawing/2014/main" id="{B42A81FD-6E9A-73A9-1EC2-F537849548DC}"/>
              </a:ext>
            </a:extLst>
          </p:cNvPr>
          <p:cNvSpPr/>
          <p:nvPr/>
        </p:nvSpPr>
        <p:spPr>
          <a:xfrm>
            <a:off x="7834933" y="3245327"/>
            <a:ext cx="1853941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OCC Monitor HMI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100D91BD-3114-E688-5167-6CEC8189025E}"/>
              </a:ext>
            </a:extLst>
          </p:cNvPr>
          <p:cNvSpPr/>
          <p:nvPr/>
        </p:nvSpPr>
        <p:spPr>
          <a:xfrm>
            <a:off x="8218096" y="1966388"/>
            <a:ext cx="1470778" cy="688836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Power Grid Thermal State management Components </a:t>
            </a:r>
            <a:endParaRPr lang="en-SG" sz="1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22390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4A4EF-5BD3-9024-760A-E40D74F47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41FEE70-34C5-27FE-D3D0-B91097139705}"/>
              </a:ext>
            </a:extLst>
          </p:cNvPr>
          <p:cNvSpPr/>
          <p:nvPr/>
        </p:nvSpPr>
        <p:spPr>
          <a:xfrm>
            <a:off x="732768" y="707648"/>
            <a:ext cx="11283523" cy="574693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G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2EAA913-6CC9-8EAE-A773-A61D05B751E8}"/>
              </a:ext>
            </a:extLst>
          </p:cNvPr>
          <p:cNvSpPr/>
          <p:nvPr/>
        </p:nvSpPr>
        <p:spPr>
          <a:xfrm>
            <a:off x="891826" y="4858989"/>
            <a:ext cx="7413078" cy="1407293"/>
          </a:xfrm>
          <a:prstGeom prst="roundRect">
            <a:avLst/>
          </a:prstGeom>
          <a:solidFill>
            <a:srgbClr val="38A3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G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E1471A-8212-854A-0916-5D7FC38AF2B2}"/>
              </a:ext>
            </a:extLst>
          </p:cNvPr>
          <p:cNvSpPr txBox="1"/>
          <p:nvPr/>
        </p:nvSpPr>
        <p:spPr>
          <a:xfrm>
            <a:off x="943106" y="4937797"/>
            <a:ext cx="120596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Level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Physical Process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Field I/O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device </a:t>
            </a:r>
            <a:endParaRPr kumimoji="0" lang="en-SG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26E696-2337-B47D-D4D2-700F6EBEA328}"/>
              </a:ext>
            </a:extLst>
          </p:cNvPr>
          <p:cNvSpPr/>
          <p:nvPr/>
        </p:nvSpPr>
        <p:spPr>
          <a:xfrm>
            <a:off x="2118601" y="5927307"/>
            <a:ext cx="1079110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Wind Turbines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9ED8C86-51C3-12BF-1757-E63C8A5EE1E1}"/>
              </a:ext>
            </a:extLst>
          </p:cNvPr>
          <p:cNvSpPr/>
          <p:nvPr/>
        </p:nvSpPr>
        <p:spPr>
          <a:xfrm>
            <a:off x="3494221" y="5930024"/>
            <a:ext cx="1433852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000" b="1" dirty="0">
                <a:solidFill>
                  <a:prstClr val="black"/>
                </a:solidFill>
                <a:latin typeface="Calibri" panose="020F0502020204030204"/>
              </a:rPr>
              <a:t>Low</a:t>
            </a: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voltage power bus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049DC4D-A9EB-F9BD-74C4-9245C06E1B47}"/>
              </a:ext>
            </a:extLst>
          </p:cNvPr>
          <p:cNvSpPr/>
          <p:nvPr/>
        </p:nvSpPr>
        <p:spPr>
          <a:xfrm>
            <a:off x="5333335" y="5927306"/>
            <a:ext cx="1108187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000" b="1" dirty="0">
                <a:solidFill>
                  <a:prstClr val="black"/>
                </a:solidFill>
                <a:latin typeface="Calibri" panose="020F0502020204030204"/>
              </a:rPr>
              <a:t>Secondary Loads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58B27F2-F074-214B-7A7D-2F014816AF79}"/>
              </a:ext>
            </a:extLst>
          </p:cNvPr>
          <p:cNvCxnSpPr>
            <a:cxnSpLocks/>
          </p:cNvCxnSpPr>
          <p:nvPr/>
        </p:nvCxnSpPr>
        <p:spPr>
          <a:xfrm>
            <a:off x="3206855" y="5698952"/>
            <a:ext cx="103531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90671A3-DEA5-FB1B-65DD-2235C352E290}"/>
              </a:ext>
            </a:extLst>
          </p:cNvPr>
          <p:cNvCxnSpPr>
            <a:cxnSpLocks/>
          </p:cNvCxnSpPr>
          <p:nvPr/>
        </p:nvCxnSpPr>
        <p:spPr>
          <a:xfrm>
            <a:off x="3203807" y="6089096"/>
            <a:ext cx="103531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3501252-78CE-1757-1E3B-C256F4C0A692}"/>
              </a:ext>
            </a:extLst>
          </p:cNvPr>
          <p:cNvSpPr/>
          <p:nvPr/>
        </p:nvSpPr>
        <p:spPr>
          <a:xfrm>
            <a:off x="879428" y="3297288"/>
            <a:ext cx="7333630" cy="1389658"/>
          </a:xfrm>
          <a:prstGeom prst="roundRect">
            <a:avLst/>
          </a:prstGeom>
          <a:solidFill>
            <a:srgbClr val="F4C54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G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936E138-06D3-F73A-B9BF-032C02948B1E}"/>
              </a:ext>
            </a:extLst>
          </p:cNvPr>
          <p:cNvCxnSpPr>
            <a:cxnSpLocks/>
          </p:cNvCxnSpPr>
          <p:nvPr/>
        </p:nvCxnSpPr>
        <p:spPr>
          <a:xfrm>
            <a:off x="3312124" y="4587599"/>
            <a:ext cx="0" cy="150664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918933E-0D4D-1467-4317-9336074E962C}"/>
              </a:ext>
            </a:extLst>
          </p:cNvPr>
          <p:cNvCxnSpPr>
            <a:cxnSpLocks/>
          </p:cNvCxnSpPr>
          <p:nvPr/>
        </p:nvCxnSpPr>
        <p:spPr>
          <a:xfrm flipV="1">
            <a:off x="2319887" y="4435738"/>
            <a:ext cx="0" cy="14915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88C22E38-697D-2AE0-79C9-E3A73554CB66}"/>
              </a:ext>
            </a:extLst>
          </p:cNvPr>
          <p:cNvSpPr/>
          <p:nvPr/>
        </p:nvSpPr>
        <p:spPr>
          <a:xfrm>
            <a:off x="2118601" y="5606840"/>
            <a:ext cx="1079110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Solar Panels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4C52998-FFDE-90A6-4F6D-81732BE9084B}"/>
              </a:ext>
            </a:extLst>
          </p:cNvPr>
          <p:cNvSpPr/>
          <p:nvPr/>
        </p:nvSpPr>
        <p:spPr>
          <a:xfrm>
            <a:off x="2118601" y="5302246"/>
            <a:ext cx="1079110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Power generator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03E5C6-9B00-712D-9144-2B9F510F7152}"/>
              </a:ext>
            </a:extLst>
          </p:cNvPr>
          <p:cNvSpPr/>
          <p:nvPr/>
        </p:nvSpPr>
        <p:spPr>
          <a:xfrm>
            <a:off x="2118601" y="4981779"/>
            <a:ext cx="1079110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Circuit breakers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B343B44A-91A6-3600-BA1F-7693555ED4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1496" y="3969071"/>
            <a:ext cx="627867" cy="446484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pic>
        <p:nvPicPr>
          <p:cNvPr id="29" name="Picture 28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F25542E9-56A6-BDE2-D256-E175B972BC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8601" y="3964458"/>
            <a:ext cx="429884" cy="471280"/>
          </a:xfrm>
          <a:prstGeom prst="rect">
            <a:avLst/>
          </a:prstGeom>
          <a:noFill/>
          <a:ln w="9525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243EE932-3EC5-D02B-8B2E-0B1C7B59D67A}"/>
              </a:ext>
            </a:extLst>
          </p:cNvPr>
          <p:cNvCxnSpPr>
            <a:cxnSpLocks/>
            <a:endCxn id="27" idx="2"/>
          </p:cNvCxnSpPr>
          <p:nvPr/>
        </p:nvCxnSpPr>
        <p:spPr>
          <a:xfrm rot="10800000">
            <a:off x="3115431" y="4415556"/>
            <a:ext cx="205091" cy="177895"/>
          </a:xfrm>
          <a:prstGeom prst="bentConnector2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810D90B-9C49-4D1E-C62E-ECFB91DCCC60}"/>
              </a:ext>
            </a:extLst>
          </p:cNvPr>
          <p:cNvCxnSpPr>
            <a:cxnSpLocks/>
          </p:cNvCxnSpPr>
          <p:nvPr/>
        </p:nvCxnSpPr>
        <p:spPr>
          <a:xfrm>
            <a:off x="3209903" y="5418536"/>
            <a:ext cx="103531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9836616-B6CB-566A-BE45-3F9F218A0097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3197711" y="5084082"/>
            <a:ext cx="122810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9F4B3D1D-5CC1-FB4B-C1C7-5261FC057D10}"/>
              </a:ext>
            </a:extLst>
          </p:cNvPr>
          <p:cNvCxnSpPr>
            <a:cxnSpLocks/>
          </p:cNvCxnSpPr>
          <p:nvPr/>
        </p:nvCxnSpPr>
        <p:spPr>
          <a:xfrm flipV="1">
            <a:off x="3972770" y="4435738"/>
            <a:ext cx="0" cy="14915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3" name="Picture 42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86D2CF54-C343-C0B1-2B83-CBB0A2685B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1484" y="3956673"/>
            <a:ext cx="429884" cy="471280"/>
          </a:xfrm>
          <a:prstGeom prst="rect">
            <a:avLst/>
          </a:prstGeom>
          <a:noFill/>
          <a:ln w="9525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2208AFAD-A0EB-3F57-C0E3-5F7A24E03285}"/>
              </a:ext>
            </a:extLst>
          </p:cNvPr>
          <p:cNvSpPr/>
          <p:nvPr/>
        </p:nvSpPr>
        <p:spPr>
          <a:xfrm>
            <a:off x="3486092" y="5614776"/>
            <a:ext cx="1433852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High voltage power bus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9CCE4BB-1C81-1D8B-24A5-CB348ED52A2E}"/>
              </a:ext>
            </a:extLst>
          </p:cNvPr>
          <p:cNvSpPr/>
          <p:nvPr/>
        </p:nvSpPr>
        <p:spPr>
          <a:xfrm>
            <a:off x="3484055" y="5302246"/>
            <a:ext cx="1433852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Step down transformer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B5D611-D2B0-0D18-D106-C28E38FEAE41}"/>
              </a:ext>
            </a:extLst>
          </p:cNvPr>
          <p:cNvSpPr/>
          <p:nvPr/>
        </p:nvSpPr>
        <p:spPr>
          <a:xfrm>
            <a:off x="3494216" y="4995850"/>
            <a:ext cx="1433852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Step up transformer 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80FAA7F-7412-1BFD-688C-0A990327971F}"/>
              </a:ext>
            </a:extLst>
          </p:cNvPr>
          <p:cNvCxnSpPr>
            <a:cxnSpLocks/>
          </p:cNvCxnSpPr>
          <p:nvPr/>
        </p:nvCxnSpPr>
        <p:spPr>
          <a:xfrm>
            <a:off x="5024229" y="4567957"/>
            <a:ext cx="1739" cy="1487609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8" name="Picture 47">
            <a:extLst>
              <a:ext uri="{FF2B5EF4-FFF2-40B4-BE49-F238E27FC236}">
                <a16:creationId xmlns:a16="http://schemas.microsoft.com/office/drawing/2014/main" id="{9A41EEA6-FFF0-7415-FEC5-9D9192EBFB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167" y="3964457"/>
            <a:ext cx="662735" cy="471279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B670B79-09B2-3592-C535-664434D65550}"/>
              </a:ext>
            </a:extLst>
          </p:cNvPr>
          <p:cNvCxnSpPr>
            <a:cxnSpLocks/>
            <a:endCxn id="10" idx="3"/>
          </p:cNvCxnSpPr>
          <p:nvPr/>
        </p:nvCxnSpPr>
        <p:spPr>
          <a:xfrm flipH="1">
            <a:off x="4928068" y="5106014"/>
            <a:ext cx="96503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5BCB1F6B-BF6E-274F-D69B-F82CBE3AD71E}"/>
              </a:ext>
            </a:extLst>
          </p:cNvPr>
          <p:cNvCxnSpPr>
            <a:cxnSpLocks/>
            <a:endCxn id="11" idx="3"/>
          </p:cNvCxnSpPr>
          <p:nvPr/>
        </p:nvCxnSpPr>
        <p:spPr>
          <a:xfrm flipH="1">
            <a:off x="4917907" y="5412410"/>
            <a:ext cx="96503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8018C552-FBE5-F123-14A8-78DB662DAA24}"/>
              </a:ext>
            </a:extLst>
          </p:cNvPr>
          <p:cNvCxnSpPr>
            <a:cxnSpLocks/>
            <a:endCxn id="13" idx="3"/>
          </p:cNvCxnSpPr>
          <p:nvPr/>
        </p:nvCxnSpPr>
        <p:spPr>
          <a:xfrm flipH="1">
            <a:off x="4919944" y="5724940"/>
            <a:ext cx="88944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A9CC402B-DDC0-2F48-335A-FB737830C984}"/>
              </a:ext>
            </a:extLst>
          </p:cNvPr>
          <p:cNvCxnSpPr>
            <a:cxnSpLocks/>
          </p:cNvCxnSpPr>
          <p:nvPr/>
        </p:nvCxnSpPr>
        <p:spPr>
          <a:xfrm flipH="1">
            <a:off x="4916710" y="6040177"/>
            <a:ext cx="102323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AB4CE55C-56A1-83F7-E101-C6B87576A633}"/>
              </a:ext>
            </a:extLst>
          </p:cNvPr>
          <p:cNvCxnSpPr>
            <a:cxnSpLocks/>
          </p:cNvCxnSpPr>
          <p:nvPr/>
        </p:nvCxnSpPr>
        <p:spPr>
          <a:xfrm rot="10800000">
            <a:off x="4669732" y="4435736"/>
            <a:ext cx="356717" cy="135514"/>
          </a:xfrm>
          <a:prstGeom prst="bentConnector2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4" name="Picture 63">
            <a:extLst>
              <a:ext uri="{FF2B5EF4-FFF2-40B4-BE49-F238E27FC236}">
                <a16:creationId xmlns:a16="http://schemas.microsoft.com/office/drawing/2014/main" id="{4465A806-53D0-911D-3716-006B46B17D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7919" y="3956286"/>
            <a:ext cx="662735" cy="471279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pic>
        <p:nvPicPr>
          <p:cNvPr id="66" name="Picture 65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703FD809-CF84-B6BD-F1F4-0A9D03AB96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2312" y="3934104"/>
            <a:ext cx="429884" cy="471280"/>
          </a:xfrm>
          <a:prstGeom prst="rect">
            <a:avLst/>
          </a:prstGeom>
          <a:noFill/>
          <a:ln w="9525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CF61BC6C-8ED8-BFF7-3FE7-BF7392BDE03B}"/>
              </a:ext>
            </a:extLst>
          </p:cNvPr>
          <p:cNvCxnSpPr>
            <a:cxnSpLocks/>
          </p:cNvCxnSpPr>
          <p:nvPr/>
        </p:nvCxnSpPr>
        <p:spPr>
          <a:xfrm flipV="1">
            <a:off x="6202607" y="4412522"/>
            <a:ext cx="205" cy="15147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5E46877F-3F50-CF20-E56B-0C681B7641CD}"/>
              </a:ext>
            </a:extLst>
          </p:cNvPr>
          <p:cNvSpPr/>
          <p:nvPr/>
        </p:nvSpPr>
        <p:spPr>
          <a:xfrm>
            <a:off x="5333335" y="4996342"/>
            <a:ext cx="954645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000" b="1" dirty="0">
                <a:solidFill>
                  <a:prstClr val="black"/>
                </a:solidFill>
                <a:latin typeface="Calibri" panose="020F0502020204030204"/>
              </a:rPr>
              <a:t>Electrical MUs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EDB6F15-9B6A-E431-78F2-001A2638E1C7}"/>
              </a:ext>
            </a:extLst>
          </p:cNvPr>
          <p:cNvSpPr/>
          <p:nvPr/>
        </p:nvSpPr>
        <p:spPr>
          <a:xfrm>
            <a:off x="5350824" y="5294848"/>
            <a:ext cx="933675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000" b="1" dirty="0">
                <a:solidFill>
                  <a:prstClr val="black"/>
                </a:solidFill>
                <a:latin typeface="Calibri" panose="020F0502020204030204"/>
              </a:rPr>
              <a:t>Station  Loads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E9A158-C476-2092-04B8-A74D5BABEB25}"/>
              </a:ext>
            </a:extLst>
          </p:cNvPr>
          <p:cNvSpPr/>
          <p:nvPr/>
        </p:nvSpPr>
        <p:spPr>
          <a:xfrm>
            <a:off x="5334923" y="5603461"/>
            <a:ext cx="997255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000" b="1" dirty="0">
                <a:solidFill>
                  <a:prstClr val="black"/>
                </a:solidFill>
                <a:latin typeface="Calibri" panose="020F0502020204030204"/>
              </a:rPr>
              <a:t>Primary  Loads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17D40DC0-BBE2-4BDE-9B52-5C020A1036C6}"/>
              </a:ext>
            </a:extLst>
          </p:cNvPr>
          <p:cNvCxnSpPr>
            <a:cxnSpLocks/>
          </p:cNvCxnSpPr>
          <p:nvPr/>
        </p:nvCxnSpPr>
        <p:spPr>
          <a:xfrm>
            <a:off x="5179509" y="4549860"/>
            <a:ext cx="1739" cy="1487609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60EE87EE-FCA6-A41C-AA56-955441AD10BB}"/>
              </a:ext>
            </a:extLst>
          </p:cNvPr>
          <p:cNvCxnSpPr>
            <a:cxnSpLocks/>
            <a:stCxn id="17" idx="1"/>
          </p:cNvCxnSpPr>
          <p:nvPr/>
        </p:nvCxnSpPr>
        <p:spPr>
          <a:xfrm flipH="1">
            <a:off x="5176844" y="6037470"/>
            <a:ext cx="156491" cy="2717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62641CCC-426D-D184-2ABF-57B93FEC297D}"/>
              </a:ext>
            </a:extLst>
          </p:cNvPr>
          <p:cNvCxnSpPr>
            <a:cxnSpLocks/>
          </p:cNvCxnSpPr>
          <p:nvPr/>
        </p:nvCxnSpPr>
        <p:spPr>
          <a:xfrm flipH="1">
            <a:off x="5168893" y="5721576"/>
            <a:ext cx="173981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58DA65A-9128-0E02-58A1-3F14FAD95DB7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5191661" y="5405011"/>
            <a:ext cx="159163" cy="1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79A24B10-B8A1-22CA-FDA7-6685B7609E56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5191885" y="5096398"/>
            <a:ext cx="141450" cy="10108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A3A4A585-2185-DC57-DA47-ACA5DD441324}"/>
              </a:ext>
            </a:extLst>
          </p:cNvPr>
          <p:cNvCxnSpPr>
            <a:cxnSpLocks/>
          </p:cNvCxnSpPr>
          <p:nvPr/>
        </p:nvCxnSpPr>
        <p:spPr>
          <a:xfrm flipV="1">
            <a:off x="5195892" y="4427565"/>
            <a:ext cx="431591" cy="137353"/>
          </a:xfrm>
          <a:prstGeom prst="bentConnector2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5B592EE0-082E-CE27-A0BE-DB929FC5BABC}"/>
              </a:ext>
            </a:extLst>
          </p:cNvPr>
          <p:cNvSpPr txBox="1"/>
          <p:nvPr/>
        </p:nvSpPr>
        <p:spPr>
          <a:xfrm>
            <a:off x="1906410" y="3561230"/>
            <a:ext cx="89350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Generation Control PLC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C2679B8-104D-F10D-3004-E344D341ACF3}"/>
              </a:ext>
            </a:extLst>
          </p:cNvPr>
          <p:cNvSpPr txBox="1"/>
          <p:nvPr/>
        </p:nvSpPr>
        <p:spPr>
          <a:xfrm>
            <a:off x="2690014" y="3549707"/>
            <a:ext cx="93994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Generation Monitor RTU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F5ADE54-EB22-8B3E-0E44-9FACA669FA02}"/>
              </a:ext>
            </a:extLst>
          </p:cNvPr>
          <p:cNvSpPr txBox="1"/>
          <p:nvPr/>
        </p:nvSpPr>
        <p:spPr>
          <a:xfrm>
            <a:off x="4394796" y="3552500"/>
            <a:ext cx="108876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Transmission Monitor RTU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6B098BD-C310-8018-C332-3A0F07149040}"/>
              </a:ext>
            </a:extLst>
          </p:cNvPr>
          <p:cNvSpPr txBox="1"/>
          <p:nvPr/>
        </p:nvSpPr>
        <p:spPr>
          <a:xfrm>
            <a:off x="3546148" y="3549512"/>
            <a:ext cx="100496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Transmission Control PLC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5451EB2-6B9C-0572-456A-51FFD53B8D32}"/>
              </a:ext>
            </a:extLst>
          </p:cNvPr>
          <p:cNvSpPr txBox="1"/>
          <p:nvPr/>
        </p:nvSpPr>
        <p:spPr>
          <a:xfrm>
            <a:off x="5993057" y="3561230"/>
            <a:ext cx="8808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Distribution Control PLC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D54FB78-EC60-5464-83F5-59977B9B6441}"/>
              </a:ext>
            </a:extLst>
          </p:cNvPr>
          <p:cNvSpPr txBox="1"/>
          <p:nvPr/>
        </p:nvSpPr>
        <p:spPr>
          <a:xfrm>
            <a:off x="5207911" y="3554209"/>
            <a:ext cx="108876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Distribution Monitor RTU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A07D4043-EE0D-8490-7D14-9715974BFF69}"/>
              </a:ext>
            </a:extLst>
          </p:cNvPr>
          <p:cNvSpPr/>
          <p:nvPr/>
        </p:nvSpPr>
        <p:spPr>
          <a:xfrm>
            <a:off x="891826" y="1826030"/>
            <a:ext cx="6240494" cy="1280819"/>
          </a:xfrm>
          <a:prstGeom prst="roundRect">
            <a:avLst/>
          </a:prstGeom>
          <a:solidFill>
            <a:srgbClr val="D67A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G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16525420-BBE0-C135-3E89-84DEE3E3A36C}"/>
              </a:ext>
            </a:extLst>
          </p:cNvPr>
          <p:cNvSpPr txBox="1"/>
          <p:nvPr/>
        </p:nvSpPr>
        <p:spPr>
          <a:xfrm>
            <a:off x="957226" y="1948058"/>
            <a:ext cx="139155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Level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Power Grid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Control Center Processing LAN</a:t>
            </a:r>
          </a:p>
        </p:txBody>
      </p:sp>
      <p:pic>
        <p:nvPicPr>
          <p:cNvPr id="107" name="Graphic 106" descr="Computer with solid fill">
            <a:extLst>
              <a:ext uri="{FF2B5EF4-FFF2-40B4-BE49-F238E27FC236}">
                <a16:creationId xmlns:a16="http://schemas.microsoft.com/office/drawing/2014/main" id="{F5FB7ABB-8411-8411-2ADC-0929F72468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60434" y="2219360"/>
            <a:ext cx="446421" cy="446421"/>
          </a:xfrm>
          <a:prstGeom prst="rect">
            <a:avLst/>
          </a:prstGeom>
        </p:spPr>
      </p:pic>
      <p:sp>
        <p:nvSpPr>
          <p:cNvPr id="108" name="TextBox 107">
            <a:extLst>
              <a:ext uri="{FF2B5EF4-FFF2-40B4-BE49-F238E27FC236}">
                <a16:creationId xmlns:a16="http://schemas.microsoft.com/office/drawing/2014/main" id="{471928F0-2F3D-94D3-F4ED-5E967CE354DD}"/>
              </a:ext>
            </a:extLst>
          </p:cNvPr>
          <p:cNvSpPr txBox="1"/>
          <p:nvPr/>
        </p:nvSpPr>
        <p:spPr>
          <a:xfrm>
            <a:off x="973945" y="3464873"/>
            <a:ext cx="104384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Level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OT System Controller LAN </a:t>
            </a:r>
            <a:endParaRPr kumimoji="0" lang="en-SG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109" name="Graphic 108" descr="Full Brick Wall with solid fill">
            <a:extLst>
              <a:ext uri="{FF2B5EF4-FFF2-40B4-BE49-F238E27FC236}">
                <a16:creationId xmlns:a16="http://schemas.microsoft.com/office/drawing/2014/main" id="{493EC25A-A968-B9D6-512E-BA856CC9BA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25898" y="1787428"/>
            <a:ext cx="418359" cy="418359"/>
          </a:xfrm>
          <a:prstGeom prst="rect">
            <a:avLst/>
          </a:prstGeom>
        </p:spPr>
      </p:pic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081DDEE3-2D92-7413-D480-84BAF6F62E1C}"/>
              </a:ext>
            </a:extLst>
          </p:cNvPr>
          <p:cNvCxnSpPr>
            <a:cxnSpLocks/>
          </p:cNvCxnSpPr>
          <p:nvPr/>
        </p:nvCxnSpPr>
        <p:spPr>
          <a:xfrm>
            <a:off x="2935077" y="2029633"/>
            <a:ext cx="0" cy="281333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2" name="Graphic 111" descr="Ui Ux with solid fill">
            <a:extLst>
              <a:ext uri="{FF2B5EF4-FFF2-40B4-BE49-F238E27FC236}">
                <a16:creationId xmlns:a16="http://schemas.microsoft.com/office/drawing/2014/main" id="{85CD6CC1-8668-EF0B-0099-BB6D203BED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646280" y="2555321"/>
            <a:ext cx="446421" cy="446421"/>
          </a:xfrm>
          <a:prstGeom prst="rect">
            <a:avLst/>
          </a:prstGeom>
        </p:spPr>
      </p:pic>
      <p:sp>
        <p:nvSpPr>
          <p:cNvPr id="113" name="TextBox 112">
            <a:extLst>
              <a:ext uri="{FF2B5EF4-FFF2-40B4-BE49-F238E27FC236}">
                <a16:creationId xmlns:a16="http://schemas.microsoft.com/office/drawing/2014/main" id="{E1C2831A-CC97-AD85-FCC0-4BD330E4CE2B}"/>
              </a:ext>
            </a:extLst>
          </p:cNvPr>
          <p:cNvSpPr txBox="1"/>
          <p:nvPr/>
        </p:nvSpPr>
        <p:spPr>
          <a:xfrm>
            <a:off x="3441893" y="2144979"/>
            <a:ext cx="121347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Power System control HMI</a:t>
            </a:r>
          </a:p>
        </p:txBody>
      </p:sp>
      <p:pic>
        <p:nvPicPr>
          <p:cNvPr id="114" name="Graphic 113" descr="Ui Ux with solid fill">
            <a:extLst>
              <a:ext uri="{FF2B5EF4-FFF2-40B4-BE49-F238E27FC236}">
                <a16:creationId xmlns:a16="http://schemas.microsoft.com/office/drawing/2014/main" id="{B4FD0633-6181-AB43-3EB3-7C679904DC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56480" y="2548761"/>
            <a:ext cx="446421" cy="446421"/>
          </a:xfrm>
          <a:prstGeom prst="rect">
            <a:avLst/>
          </a:prstGeom>
        </p:spPr>
      </p:pic>
      <p:sp>
        <p:nvSpPr>
          <p:cNvPr id="115" name="TextBox 114">
            <a:extLst>
              <a:ext uri="{FF2B5EF4-FFF2-40B4-BE49-F238E27FC236}">
                <a16:creationId xmlns:a16="http://schemas.microsoft.com/office/drawing/2014/main" id="{D0746826-D2EC-056C-F176-74B1200C2C5F}"/>
              </a:ext>
            </a:extLst>
          </p:cNvPr>
          <p:cNvSpPr txBox="1"/>
          <p:nvPr/>
        </p:nvSpPr>
        <p:spPr>
          <a:xfrm>
            <a:off x="4379722" y="2138880"/>
            <a:ext cx="121347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Power System Monitor HMI</a:t>
            </a:r>
          </a:p>
        </p:txBody>
      </p:sp>
      <p:pic>
        <p:nvPicPr>
          <p:cNvPr id="116" name="Graphic 115" descr="Computer with solid fill">
            <a:extLst>
              <a:ext uri="{FF2B5EF4-FFF2-40B4-BE49-F238E27FC236}">
                <a16:creationId xmlns:a16="http://schemas.microsoft.com/office/drawing/2014/main" id="{A7AF59F9-00D0-2B7F-76A4-FF9F1B829E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21604" y="2548761"/>
            <a:ext cx="481208" cy="481208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ED3E84DE-DB98-588A-859F-3C05A34434F1}"/>
              </a:ext>
            </a:extLst>
          </p:cNvPr>
          <p:cNvSpPr txBox="1"/>
          <p:nvPr/>
        </p:nvSpPr>
        <p:spPr>
          <a:xfrm>
            <a:off x="5534506" y="2157843"/>
            <a:ext cx="93077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Maintenance workstations</a:t>
            </a:r>
            <a:endParaRPr kumimoji="0" lang="en-SG" sz="1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3FA18372-36F2-AA2B-7005-7C19F3669E94}"/>
              </a:ext>
            </a:extLst>
          </p:cNvPr>
          <p:cNvCxnSpPr>
            <a:cxnSpLocks/>
            <a:stCxn id="29" idx="0"/>
            <a:endCxn id="112" idx="2"/>
          </p:cNvCxnSpPr>
          <p:nvPr/>
        </p:nvCxnSpPr>
        <p:spPr>
          <a:xfrm rot="5400000" flipH="1" flipV="1">
            <a:off x="2620159" y="2715126"/>
            <a:ext cx="962716" cy="1535948"/>
          </a:xfrm>
          <a:prstGeom prst="bentConnector3">
            <a:avLst>
              <a:gd name="adj1" fmla="val 50000"/>
            </a:avLst>
          </a:prstGeom>
          <a:ln w="19050">
            <a:solidFill>
              <a:srgbClr val="C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: Elbow 120">
            <a:extLst>
              <a:ext uri="{FF2B5EF4-FFF2-40B4-BE49-F238E27FC236}">
                <a16:creationId xmlns:a16="http://schemas.microsoft.com/office/drawing/2014/main" id="{5D6BD457-6A61-7C05-6D68-527E1520556C}"/>
              </a:ext>
            </a:extLst>
          </p:cNvPr>
          <p:cNvCxnSpPr>
            <a:cxnSpLocks/>
            <a:stCxn id="43" idx="0"/>
            <a:endCxn id="112" idx="2"/>
          </p:cNvCxnSpPr>
          <p:nvPr/>
        </p:nvCxnSpPr>
        <p:spPr>
          <a:xfrm rot="16200000" flipV="1">
            <a:off x="3450494" y="3420740"/>
            <a:ext cx="954931" cy="116935"/>
          </a:xfrm>
          <a:prstGeom prst="bentConnector3">
            <a:avLst>
              <a:gd name="adj1" fmla="val 50000"/>
            </a:avLst>
          </a:prstGeom>
          <a:ln w="19050">
            <a:solidFill>
              <a:srgbClr val="C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: Elbow 125">
            <a:extLst>
              <a:ext uri="{FF2B5EF4-FFF2-40B4-BE49-F238E27FC236}">
                <a16:creationId xmlns:a16="http://schemas.microsoft.com/office/drawing/2014/main" id="{8197C647-C50F-82FA-747B-F4BA1ADEC51C}"/>
              </a:ext>
            </a:extLst>
          </p:cNvPr>
          <p:cNvCxnSpPr>
            <a:cxnSpLocks/>
            <a:stCxn id="66" idx="0"/>
            <a:endCxn id="112" idx="2"/>
          </p:cNvCxnSpPr>
          <p:nvPr/>
        </p:nvCxnSpPr>
        <p:spPr>
          <a:xfrm rot="16200000" flipV="1">
            <a:off x="4652192" y="2219041"/>
            <a:ext cx="932362" cy="2497763"/>
          </a:xfrm>
          <a:prstGeom prst="bentConnector3">
            <a:avLst>
              <a:gd name="adj1" fmla="val 50000"/>
            </a:avLst>
          </a:prstGeom>
          <a:ln w="19050">
            <a:solidFill>
              <a:srgbClr val="C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BC76ECCD-BDE6-F309-4FEE-E886314931AD}"/>
              </a:ext>
            </a:extLst>
          </p:cNvPr>
          <p:cNvCxnSpPr>
            <a:stCxn id="86" idx="2"/>
            <a:endCxn id="112" idx="3"/>
          </p:cNvCxnSpPr>
          <p:nvPr/>
        </p:nvCxnSpPr>
        <p:spPr>
          <a:xfrm rot="5400000" flipH="1" flipV="1">
            <a:off x="3025312" y="2913205"/>
            <a:ext cx="1202062" cy="932716"/>
          </a:xfrm>
          <a:prstGeom prst="bentConnector4">
            <a:avLst>
              <a:gd name="adj1" fmla="val 35685"/>
              <a:gd name="adj2" fmla="val 124509"/>
            </a:avLst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7127BF59-E614-2F01-44AE-98F076D9EFBF}"/>
              </a:ext>
            </a:extLst>
          </p:cNvPr>
          <p:cNvCxnSpPr>
            <a:cxnSpLocks/>
            <a:endCxn id="48" idx="0"/>
          </p:cNvCxnSpPr>
          <p:nvPr/>
        </p:nvCxnSpPr>
        <p:spPr>
          <a:xfrm rot="16200000" flipH="1">
            <a:off x="4302100" y="3565021"/>
            <a:ext cx="414945" cy="383926"/>
          </a:xfrm>
          <a:prstGeom prst="bentConnector3">
            <a:avLst>
              <a:gd name="adj1" fmla="val 2956"/>
            </a:avLst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38" name="Connector: Elbow 137">
            <a:extLst>
              <a:ext uri="{FF2B5EF4-FFF2-40B4-BE49-F238E27FC236}">
                <a16:creationId xmlns:a16="http://schemas.microsoft.com/office/drawing/2014/main" id="{C260411A-2E48-7740-5EE4-D4F827E580CF}"/>
              </a:ext>
            </a:extLst>
          </p:cNvPr>
          <p:cNvCxnSpPr>
            <a:cxnSpLocks/>
            <a:endCxn id="64" idx="0"/>
          </p:cNvCxnSpPr>
          <p:nvPr/>
        </p:nvCxnSpPr>
        <p:spPr>
          <a:xfrm>
            <a:off x="4701535" y="3561229"/>
            <a:ext cx="957752" cy="395057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A8E9023A-F310-F7D2-1790-331D82B802B6}"/>
              </a:ext>
            </a:extLst>
          </p:cNvPr>
          <p:cNvCxnSpPr>
            <a:cxnSpLocks/>
          </p:cNvCxnSpPr>
          <p:nvPr/>
        </p:nvCxnSpPr>
        <p:spPr>
          <a:xfrm>
            <a:off x="2935077" y="2575866"/>
            <a:ext cx="0" cy="272009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5D28F4CF-14B6-466A-EF74-DDBB8D876DAA}"/>
              </a:ext>
            </a:extLst>
          </p:cNvPr>
          <p:cNvCxnSpPr>
            <a:cxnSpLocks/>
          </p:cNvCxnSpPr>
          <p:nvPr/>
        </p:nvCxnSpPr>
        <p:spPr>
          <a:xfrm>
            <a:off x="2935077" y="2847875"/>
            <a:ext cx="71816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F0170E5-5C76-5F63-BBCA-31DF3B6B4442}"/>
              </a:ext>
            </a:extLst>
          </p:cNvPr>
          <p:cNvCxnSpPr>
            <a:cxnSpLocks/>
          </p:cNvCxnSpPr>
          <p:nvPr/>
        </p:nvCxnSpPr>
        <p:spPr>
          <a:xfrm>
            <a:off x="3084830" y="2020924"/>
            <a:ext cx="2449676" cy="8709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D79898C0-24BE-91A7-AFA9-BD33161C48AC}"/>
              </a:ext>
            </a:extLst>
          </p:cNvPr>
          <p:cNvCxnSpPr>
            <a:cxnSpLocks/>
          </p:cNvCxnSpPr>
          <p:nvPr/>
        </p:nvCxnSpPr>
        <p:spPr>
          <a:xfrm>
            <a:off x="4394796" y="2132225"/>
            <a:ext cx="0" cy="65714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D82C0A00-7668-8480-74B7-BB464DC78332}"/>
              </a:ext>
            </a:extLst>
          </p:cNvPr>
          <p:cNvCxnSpPr>
            <a:cxnSpLocks/>
            <a:endCxn id="114" idx="1"/>
          </p:cNvCxnSpPr>
          <p:nvPr/>
        </p:nvCxnSpPr>
        <p:spPr>
          <a:xfrm>
            <a:off x="4394796" y="2769823"/>
            <a:ext cx="261684" cy="2149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7E031B8F-9117-8F0B-FF57-E11833D87665}"/>
              </a:ext>
            </a:extLst>
          </p:cNvPr>
          <p:cNvCxnSpPr>
            <a:cxnSpLocks/>
          </p:cNvCxnSpPr>
          <p:nvPr/>
        </p:nvCxnSpPr>
        <p:spPr>
          <a:xfrm>
            <a:off x="5534506" y="2029632"/>
            <a:ext cx="0" cy="748899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2D24FF54-1DFA-3227-A53A-CC54E5314549}"/>
              </a:ext>
            </a:extLst>
          </p:cNvPr>
          <p:cNvCxnSpPr>
            <a:cxnSpLocks/>
          </p:cNvCxnSpPr>
          <p:nvPr/>
        </p:nvCxnSpPr>
        <p:spPr>
          <a:xfrm>
            <a:off x="5380262" y="1882767"/>
            <a:ext cx="0" cy="1147202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E2BAE817-E4ED-4CBE-9ED1-B63FD1CC267B}"/>
              </a:ext>
            </a:extLst>
          </p:cNvPr>
          <p:cNvCxnSpPr>
            <a:cxnSpLocks/>
          </p:cNvCxnSpPr>
          <p:nvPr/>
        </p:nvCxnSpPr>
        <p:spPr>
          <a:xfrm>
            <a:off x="5540006" y="2767333"/>
            <a:ext cx="168489" cy="2149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Connector 167">
            <a:extLst>
              <a:ext uri="{FF2B5EF4-FFF2-40B4-BE49-F238E27FC236}">
                <a16:creationId xmlns:a16="http://schemas.microsoft.com/office/drawing/2014/main" id="{9BDEBFA3-A83B-A42B-1478-C7748D1FAF88}"/>
              </a:ext>
            </a:extLst>
          </p:cNvPr>
          <p:cNvCxnSpPr>
            <a:cxnSpLocks/>
          </p:cNvCxnSpPr>
          <p:nvPr/>
        </p:nvCxnSpPr>
        <p:spPr>
          <a:xfrm>
            <a:off x="3187066" y="2442570"/>
            <a:ext cx="133455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7D12AC27-0EA6-D9D7-DCE7-2C6B76740504}"/>
              </a:ext>
            </a:extLst>
          </p:cNvPr>
          <p:cNvCxnSpPr>
            <a:cxnSpLocks/>
          </p:cNvCxnSpPr>
          <p:nvPr/>
        </p:nvCxnSpPr>
        <p:spPr>
          <a:xfrm>
            <a:off x="3309774" y="2121462"/>
            <a:ext cx="0" cy="325586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CCA66879-22D1-8EEB-CA14-BB7C2AAF98E0}"/>
              </a:ext>
            </a:extLst>
          </p:cNvPr>
          <p:cNvCxnSpPr>
            <a:cxnSpLocks/>
          </p:cNvCxnSpPr>
          <p:nvPr/>
        </p:nvCxnSpPr>
        <p:spPr>
          <a:xfrm>
            <a:off x="3320521" y="2121462"/>
            <a:ext cx="1087385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37F964CA-4789-F849-89C2-5477B0799CA0}"/>
              </a:ext>
            </a:extLst>
          </p:cNvPr>
          <p:cNvSpPr txBox="1"/>
          <p:nvPr/>
        </p:nvSpPr>
        <p:spPr>
          <a:xfrm>
            <a:off x="1835148" y="793976"/>
            <a:ext cx="602588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Power Grid</a:t>
            </a:r>
            <a:r>
              <a:rPr lang="en-US" sz="2400" b="1" dirty="0">
                <a:solidFill>
                  <a:prstClr val="white"/>
                </a:solidFill>
                <a:latin typeface="Calibri" panose="020F0502020204030204"/>
              </a:rPr>
              <a:t>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Simulation</a:t>
            </a:r>
            <a:r>
              <a:rPr lang="en-US" sz="2400" b="1" dirty="0">
                <a:solidFill>
                  <a:prstClr val="white"/>
                </a:solidFill>
                <a:latin typeface="Calibri" panose="020F0502020204030204"/>
              </a:rPr>
              <a:t>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System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Mini </a:t>
            </a:r>
            <a:r>
              <a:rPr lang="en-US" sz="2400" b="1" dirty="0">
                <a:solidFill>
                  <a:prstClr val="white"/>
                </a:solidFill>
                <a:latin typeface="Calibri" panose="020F0502020204030204"/>
              </a:rPr>
              <a:t>Energy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-OT-System Cyber </a:t>
            </a:r>
            <a:r>
              <a:rPr lang="en-US" sz="2400" b="1" dirty="0">
                <a:solidFill>
                  <a:prstClr val="white"/>
                </a:solidFill>
                <a:latin typeface="Calibri" panose="020F0502020204030204"/>
              </a:rPr>
              <a:t>Range Platform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A2582410-E8C7-BCBA-4DA6-A40C812BA0D5}"/>
              </a:ext>
            </a:extLst>
          </p:cNvPr>
          <p:cNvSpPr txBox="1"/>
          <p:nvPr/>
        </p:nvSpPr>
        <p:spPr>
          <a:xfrm>
            <a:off x="8373714" y="4255545"/>
            <a:ext cx="27529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38A36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Power System Physical World Simulator 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rgbClr val="38A36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4934A718-D638-41C7-5C64-E13028AE4525}"/>
              </a:ext>
            </a:extLst>
          </p:cNvPr>
          <p:cNvCxnSpPr>
            <a:cxnSpLocks/>
          </p:cNvCxnSpPr>
          <p:nvPr/>
        </p:nvCxnSpPr>
        <p:spPr>
          <a:xfrm>
            <a:off x="8197693" y="5491239"/>
            <a:ext cx="343879" cy="0"/>
          </a:xfrm>
          <a:prstGeom prst="straightConnector1">
            <a:avLst/>
          </a:prstGeom>
          <a:ln w="28575">
            <a:solidFill>
              <a:srgbClr val="38A36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3658CA7F-CD82-34F6-B5F5-65B0360463D4}"/>
              </a:ext>
            </a:extLst>
          </p:cNvPr>
          <p:cNvSpPr txBox="1"/>
          <p:nvPr/>
        </p:nvSpPr>
        <p:spPr>
          <a:xfrm>
            <a:off x="7132320" y="1773122"/>
            <a:ext cx="1110978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D67A3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OCC Power System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D67A3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Scada HMI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rgbClr val="D67A3B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92" name="Straight Arrow Connector 191">
            <a:extLst>
              <a:ext uri="{FF2B5EF4-FFF2-40B4-BE49-F238E27FC236}">
                <a16:creationId xmlns:a16="http://schemas.microsoft.com/office/drawing/2014/main" id="{A665D0C1-94F5-7CC6-6AE1-1734ED77F040}"/>
              </a:ext>
            </a:extLst>
          </p:cNvPr>
          <p:cNvCxnSpPr>
            <a:cxnSpLocks/>
          </p:cNvCxnSpPr>
          <p:nvPr/>
        </p:nvCxnSpPr>
        <p:spPr>
          <a:xfrm>
            <a:off x="7132320" y="2404081"/>
            <a:ext cx="834485" cy="0"/>
          </a:xfrm>
          <a:prstGeom prst="straightConnector1">
            <a:avLst/>
          </a:prstGeom>
          <a:ln w="28575">
            <a:solidFill>
              <a:srgbClr val="D67A3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22674EC-2600-0C6A-01DA-0996217B3EDE}"/>
              </a:ext>
            </a:extLst>
          </p:cNvPr>
          <p:cNvSpPr txBox="1"/>
          <p:nvPr/>
        </p:nvSpPr>
        <p:spPr>
          <a:xfrm>
            <a:off x="3060467" y="3061570"/>
            <a:ext cx="943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Modbus </a:t>
            </a:r>
            <a:endParaRPr lang="en-SG" sz="1200" b="1" dirty="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3E0963-E1AD-EDEF-854C-E39C7938DC7E}"/>
              </a:ext>
            </a:extLst>
          </p:cNvPr>
          <p:cNvSpPr txBox="1"/>
          <p:nvPr/>
        </p:nvSpPr>
        <p:spPr>
          <a:xfrm>
            <a:off x="4341199" y="3068995"/>
            <a:ext cx="943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92D050"/>
                </a:solidFill>
              </a:rPr>
              <a:t>S7Comm</a:t>
            </a:r>
            <a:r>
              <a:rPr lang="en-US" sz="1200" b="1" dirty="0">
                <a:solidFill>
                  <a:srgbClr val="FF0000"/>
                </a:solidFill>
              </a:rPr>
              <a:t>  </a:t>
            </a:r>
            <a:endParaRPr lang="en-SG" sz="1200" b="1" dirty="0">
              <a:solidFill>
                <a:srgbClr val="FF0000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E722EAA-70EC-9409-A262-6783273A0461}"/>
              </a:ext>
            </a:extLst>
          </p:cNvPr>
          <p:cNvCxnSpPr>
            <a:cxnSpLocks/>
          </p:cNvCxnSpPr>
          <p:nvPr/>
        </p:nvCxnSpPr>
        <p:spPr>
          <a:xfrm>
            <a:off x="2435471" y="4455567"/>
            <a:ext cx="0" cy="540283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17DE0BC-F108-CE2B-8B33-FCE30683765B}"/>
              </a:ext>
            </a:extLst>
          </p:cNvPr>
          <p:cNvCxnSpPr>
            <a:cxnSpLocks/>
          </p:cNvCxnSpPr>
          <p:nvPr/>
        </p:nvCxnSpPr>
        <p:spPr>
          <a:xfrm>
            <a:off x="4092701" y="4455566"/>
            <a:ext cx="0" cy="540283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70CE1F7-48FA-FB46-13AD-04F8DE3EB47C}"/>
              </a:ext>
            </a:extLst>
          </p:cNvPr>
          <p:cNvSpPr txBox="1"/>
          <p:nvPr/>
        </p:nvSpPr>
        <p:spPr>
          <a:xfrm>
            <a:off x="2628939" y="4631689"/>
            <a:ext cx="21985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B0F0"/>
                </a:solidFill>
              </a:rPr>
              <a:t>Simulated Electrical signal    </a:t>
            </a:r>
            <a:endParaRPr lang="en-SG" sz="1200" b="1" dirty="0">
              <a:solidFill>
                <a:srgbClr val="00B0F0"/>
              </a:solidFill>
            </a:endParaRPr>
          </a:p>
        </p:txBody>
      </p:sp>
      <p:pic>
        <p:nvPicPr>
          <p:cNvPr id="28" name="Picture 27" descr="A graphic of a power grid&#10;&#10;Description automatically generated">
            <a:extLst>
              <a:ext uri="{FF2B5EF4-FFF2-40B4-BE49-F238E27FC236}">
                <a16:creationId xmlns:a16="http://schemas.microsoft.com/office/drawing/2014/main" id="{1C9968EF-9C80-4190-F678-2DCFF37566E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826" y="859018"/>
            <a:ext cx="783665" cy="898601"/>
          </a:xfrm>
          <a:prstGeom prst="rect">
            <a:avLst/>
          </a:prstGeom>
          <a:ln w="1270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 w="165100" prst="coolSlant"/>
          </a:sp3d>
        </p:spPr>
      </p:pic>
      <p:pic>
        <p:nvPicPr>
          <p:cNvPr id="57" name="Picture 56" descr="A computer screen shot of a computer&#10;&#10;AI-generated content may be incorrect.">
            <a:extLst>
              <a:ext uri="{FF2B5EF4-FFF2-40B4-BE49-F238E27FC236}">
                <a16:creationId xmlns:a16="http://schemas.microsoft.com/office/drawing/2014/main" id="{70C0E391-FEE0-BF23-7396-B06CFF66B6B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1665" y="821522"/>
            <a:ext cx="3754185" cy="2017875"/>
          </a:xfrm>
          <a:prstGeom prst="rect">
            <a:avLst/>
          </a:prstGeom>
        </p:spPr>
      </p:pic>
      <p:sp>
        <p:nvSpPr>
          <p:cNvPr id="65" name="Rectangle 64">
            <a:extLst>
              <a:ext uri="{FF2B5EF4-FFF2-40B4-BE49-F238E27FC236}">
                <a16:creationId xmlns:a16="http://schemas.microsoft.com/office/drawing/2014/main" id="{9F741EEA-1080-099D-809C-61638CF5F153}"/>
              </a:ext>
            </a:extLst>
          </p:cNvPr>
          <p:cNvSpPr/>
          <p:nvPr/>
        </p:nvSpPr>
        <p:spPr>
          <a:xfrm>
            <a:off x="6594694" y="5927306"/>
            <a:ext cx="806686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OEM Scope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17FD6DB-5D7C-B519-7189-E5C1AA370728}"/>
              </a:ext>
            </a:extLst>
          </p:cNvPr>
          <p:cNvCxnSpPr>
            <a:cxnSpLocks/>
          </p:cNvCxnSpPr>
          <p:nvPr/>
        </p:nvCxnSpPr>
        <p:spPr>
          <a:xfrm flipV="1">
            <a:off x="7200489" y="4405384"/>
            <a:ext cx="205" cy="1514784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>
            <a:extLst>
              <a:ext uri="{FF2B5EF4-FFF2-40B4-BE49-F238E27FC236}">
                <a16:creationId xmlns:a16="http://schemas.microsoft.com/office/drawing/2014/main" id="{D5C1CF21-4934-438F-4445-2CE9CED785AE}"/>
              </a:ext>
            </a:extLst>
          </p:cNvPr>
          <p:cNvSpPr/>
          <p:nvPr/>
        </p:nvSpPr>
        <p:spPr>
          <a:xfrm>
            <a:off x="6608138" y="5628120"/>
            <a:ext cx="910048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DC Interface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6375F79C-6052-BCB1-7313-4A07C0F4F524}"/>
              </a:ext>
            </a:extLst>
          </p:cNvPr>
          <p:cNvSpPr/>
          <p:nvPr/>
        </p:nvSpPr>
        <p:spPr>
          <a:xfrm>
            <a:off x="6595180" y="5324778"/>
            <a:ext cx="723036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lang="en-US" sz="1000" b="1" dirty="0">
                <a:solidFill>
                  <a:prstClr val="black"/>
                </a:solidFill>
                <a:latin typeface="Calibri" panose="020F0502020204030204"/>
              </a:rPr>
              <a:t>Auto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BMS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DC52C53-3308-4315-B578-70DA57C06E4C}"/>
              </a:ext>
            </a:extLst>
          </p:cNvPr>
          <p:cNvSpPr/>
          <p:nvPr/>
        </p:nvSpPr>
        <p:spPr>
          <a:xfrm>
            <a:off x="6588724" y="5000139"/>
            <a:ext cx="998189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lang="en-SG" sz="1000" b="1" dirty="0">
                <a:solidFill>
                  <a:prstClr val="black"/>
                </a:solidFill>
                <a:latin typeface="Calibri" panose="020F0502020204030204"/>
              </a:rPr>
              <a:t>BESS Controller 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3" name="Picture 72" descr="A grey electronic device with buttons&#10;&#10;AI-generated content may be incorrect.">
            <a:extLst>
              <a:ext uri="{FF2B5EF4-FFF2-40B4-BE49-F238E27FC236}">
                <a16:creationId xmlns:a16="http://schemas.microsoft.com/office/drawing/2014/main" id="{01E6373E-6465-2CCD-8194-C05DFCADB9F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9462" y="3906899"/>
            <a:ext cx="520666" cy="520666"/>
          </a:xfrm>
          <a:prstGeom prst="rect">
            <a:avLst/>
          </a:prstGeom>
        </p:spPr>
      </p:pic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8784BEBE-B493-D875-E38B-38D868164FDD}"/>
              </a:ext>
            </a:extLst>
          </p:cNvPr>
          <p:cNvCxnSpPr>
            <a:cxnSpLocks/>
          </p:cNvCxnSpPr>
          <p:nvPr/>
        </p:nvCxnSpPr>
        <p:spPr>
          <a:xfrm>
            <a:off x="7015170" y="4402803"/>
            <a:ext cx="0" cy="568285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1687C988-39B8-9B9F-7D46-7B6BAAB223C3}"/>
              </a:ext>
            </a:extLst>
          </p:cNvPr>
          <p:cNvSpPr txBox="1"/>
          <p:nvPr/>
        </p:nvSpPr>
        <p:spPr>
          <a:xfrm>
            <a:off x="6788231" y="3496271"/>
            <a:ext cx="8808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BESS Control PLC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77743FA2-B15A-B417-0FDE-3900B37A1223}"/>
              </a:ext>
            </a:extLst>
          </p:cNvPr>
          <p:cNvCxnSpPr>
            <a:cxnSpLocks/>
            <a:stCxn id="73" idx="0"/>
          </p:cNvCxnSpPr>
          <p:nvPr/>
        </p:nvCxnSpPr>
        <p:spPr>
          <a:xfrm rot="16200000" flipV="1">
            <a:off x="5122858" y="1929962"/>
            <a:ext cx="919085" cy="3034790"/>
          </a:xfrm>
          <a:prstGeom prst="bentConnector2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13B32402-4203-7A2F-DBE0-5F85791C2D3E}"/>
              </a:ext>
            </a:extLst>
          </p:cNvPr>
          <p:cNvSpPr txBox="1"/>
          <p:nvPr/>
        </p:nvSpPr>
        <p:spPr>
          <a:xfrm>
            <a:off x="6074519" y="3046528"/>
            <a:ext cx="121774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Calibri" panose="020F0502020204030204"/>
              </a:rPr>
              <a:t>IEC60870-104</a:t>
            </a:r>
            <a:r>
              <a:rPr lang="en-US" sz="1200" b="1" dirty="0">
                <a:solidFill>
                  <a:srgbClr val="FF0000"/>
                </a:solidFill>
              </a:rPr>
              <a:t>  </a:t>
            </a:r>
            <a:endParaRPr lang="en-SG" sz="1200" b="1" dirty="0">
              <a:solidFill>
                <a:srgbClr val="FF0000"/>
              </a:solidFill>
            </a:endParaRPr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264448F1-5C2E-026B-4A6A-A3B57068059B}"/>
              </a:ext>
            </a:extLst>
          </p:cNvPr>
          <p:cNvCxnSpPr>
            <a:stCxn id="66" idx="2"/>
            <a:endCxn id="18" idx="3"/>
          </p:cNvCxnSpPr>
          <p:nvPr/>
        </p:nvCxnSpPr>
        <p:spPr>
          <a:xfrm rot="5400000">
            <a:off x="5977056" y="4716308"/>
            <a:ext cx="701122" cy="7927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78E1753B-E406-7FC5-57E2-4BD150FFD37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26992" y="4515987"/>
            <a:ext cx="3335524" cy="1792844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1EE87ABF-A5FA-06EC-8560-E648E6B296D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45523" y="2995182"/>
            <a:ext cx="2691679" cy="1280819"/>
          </a:xfrm>
          <a:prstGeom prst="rect">
            <a:avLst/>
          </a:prstGeom>
          <a:ln w="12700">
            <a:solidFill>
              <a:schemeClr val="bg1"/>
            </a:solidFill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18AA6FC4-9C25-F3B9-1904-28453B6382C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14972" y="2543016"/>
            <a:ext cx="320008" cy="38203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33B4C7D8-A7DF-340C-F47B-1D8E9A15E1C8}"/>
              </a:ext>
            </a:extLst>
          </p:cNvPr>
          <p:cNvSpPr txBox="1"/>
          <p:nvPr/>
        </p:nvSpPr>
        <p:spPr>
          <a:xfrm>
            <a:off x="8213058" y="3080106"/>
            <a:ext cx="99391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00" b="1" dirty="0">
                <a:solidFill>
                  <a:srgbClr val="F4C54F"/>
                </a:solidFill>
                <a:latin typeface="Calibri" panose="020F0502020204030204"/>
              </a:rPr>
              <a:t>Local Thermal State monitor HMI 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rgbClr val="F4C54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DD76F15-E9C9-1A77-C3E2-64389112E888}"/>
              </a:ext>
            </a:extLst>
          </p:cNvPr>
          <p:cNvSpPr/>
          <p:nvPr/>
        </p:nvSpPr>
        <p:spPr>
          <a:xfrm>
            <a:off x="7616792" y="5468213"/>
            <a:ext cx="596265" cy="49082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IoT sensor 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24CE7E8F-7F1B-937B-CA2D-B26BECE4D521}"/>
              </a:ext>
            </a:extLst>
          </p:cNvPr>
          <p:cNvCxnSpPr>
            <a:cxnSpLocks/>
          </p:cNvCxnSpPr>
          <p:nvPr/>
        </p:nvCxnSpPr>
        <p:spPr>
          <a:xfrm flipV="1">
            <a:off x="7824339" y="4496241"/>
            <a:ext cx="0" cy="963761"/>
          </a:xfrm>
          <a:prstGeom prst="straightConnector1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83041946-2301-E151-88C4-58CAC42ABA96}"/>
              </a:ext>
            </a:extLst>
          </p:cNvPr>
          <p:cNvCxnSpPr>
            <a:cxnSpLocks/>
          </p:cNvCxnSpPr>
          <p:nvPr/>
        </p:nvCxnSpPr>
        <p:spPr>
          <a:xfrm>
            <a:off x="6163188" y="2763211"/>
            <a:ext cx="5517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0848D98E-A972-F633-5C87-8C9B0FCFCD5D}"/>
              </a:ext>
            </a:extLst>
          </p:cNvPr>
          <p:cNvSpPr txBox="1"/>
          <p:nvPr/>
        </p:nvSpPr>
        <p:spPr>
          <a:xfrm>
            <a:off x="6529871" y="2101946"/>
            <a:ext cx="80827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5G Receiver</a:t>
            </a:r>
            <a:endParaRPr kumimoji="0" lang="en-SG" sz="1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4" name="Picture 83">
            <a:extLst>
              <a:ext uri="{FF2B5EF4-FFF2-40B4-BE49-F238E27FC236}">
                <a16:creationId xmlns:a16="http://schemas.microsoft.com/office/drawing/2014/main" id="{90FFBE34-5184-B44D-F7FD-70C47D846B8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554827" y="3916883"/>
            <a:ext cx="574331" cy="517924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21BA3FBB-02F4-8F52-599E-6940509D4F78}"/>
              </a:ext>
            </a:extLst>
          </p:cNvPr>
          <p:cNvSpPr txBox="1"/>
          <p:nvPr/>
        </p:nvSpPr>
        <p:spPr>
          <a:xfrm>
            <a:off x="7512242" y="3526659"/>
            <a:ext cx="8808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5G IoT Gateway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CA5498F7-47D5-B865-BAB6-6B0B7711680D}"/>
              </a:ext>
            </a:extLst>
          </p:cNvPr>
          <p:cNvCxnSpPr>
            <a:endCxn id="44" idx="3"/>
          </p:cNvCxnSpPr>
          <p:nvPr/>
        </p:nvCxnSpPr>
        <p:spPr>
          <a:xfrm rot="16200000" flipV="1">
            <a:off x="6827860" y="2941154"/>
            <a:ext cx="1200070" cy="785829"/>
          </a:xfrm>
          <a:prstGeom prst="bentConnector2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DBEA9D32-D246-F4AC-1298-A3643FBAB132}"/>
              </a:ext>
            </a:extLst>
          </p:cNvPr>
          <p:cNvSpPr txBox="1"/>
          <p:nvPr/>
        </p:nvSpPr>
        <p:spPr>
          <a:xfrm>
            <a:off x="7234651" y="2835623"/>
            <a:ext cx="12177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MQTT Via 5G network  </a:t>
            </a:r>
            <a:endParaRPr lang="en-SG" sz="1200" b="1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B0790EF-24F7-0A08-8C4F-528BAE85B921}"/>
              </a:ext>
            </a:extLst>
          </p:cNvPr>
          <p:cNvSpPr txBox="1"/>
          <p:nvPr/>
        </p:nvSpPr>
        <p:spPr>
          <a:xfrm>
            <a:off x="7513054" y="4937797"/>
            <a:ext cx="12177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accent5">
                    <a:lumMod val="75000"/>
                  </a:schemeClr>
                </a:solidFill>
              </a:rPr>
              <a:t>2.4G WIFI Network</a:t>
            </a:r>
            <a:endParaRPr lang="en-SG" sz="1200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54FAAF21-4257-3B27-4360-EDD8E3160CA3}"/>
              </a:ext>
            </a:extLst>
          </p:cNvPr>
          <p:cNvCxnSpPr>
            <a:cxnSpLocks/>
            <a:stCxn id="84" idx="3"/>
            <a:endCxn id="40" idx="1"/>
          </p:cNvCxnSpPr>
          <p:nvPr/>
        </p:nvCxnSpPr>
        <p:spPr>
          <a:xfrm flipV="1">
            <a:off x="8129158" y="3635592"/>
            <a:ext cx="1016365" cy="540253"/>
          </a:xfrm>
          <a:prstGeom prst="bentConnector3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54364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CFD8E9A1-5B0E-55B8-9D0F-D65BC9E11F24}"/>
              </a:ext>
            </a:extLst>
          </p:cNvPr>
          <p:cNvSpPr/>
          <p:nvPr/>
        </p:nvSpPr>
        <p:spPr>
          <a:xfrm>
            <a:off x="9629041" y="1337328"/>
            <a:ext cx="1499207" cy="176784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8FFF0E2-0429-31BB-DD18-FDB034272E98}"/>
              </a:ext>
            </a:extLst>
          </p:cNvPr>
          <p:cNvSpPr/>
          <p:nvPr/>
        </p:nvSpPr>
        <p:spPr>
          <a:xfrm>
            <a:off x="5202880" y="1337332"/>
            <a:ext cx="2697536" cy="185433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1E3549-1C70-A92A-3F42-EF53C0B6F5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294" y="1337328"/>
            <a:ext cx="3449940" cy="1854343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DE70A2D-54D5-A495-B08C-95CA5D1986E2}"/>
              </a:ext>
            </a:extLst>
          </p:cNvPr>
          <p:cNvCxnSpPr>
            <a:cxnSpLocks/>
            <a:stCxn id="4" idx="3"/>
            <a:endCxn id="16" idx="1"/>
          </p:cNvCxnSpPr>
          <p:nvPr/>
        </p:nvCxnSpPr>
        <p:spPr>
          <a:xfrm>
            <a:off x="4210234" y="2264500"/>
            <a:ext cx="1161156" cy="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4D5EB3F-F99F-2E52-A121-06D83865A8E2}"/>
              </a:ext>
            </a:extLst>
          </p:cNvPr>
          <p:cNvSpPr txBox="1"/>
          <p:nvPr/>
        </p:nvSpPr>
        <p:spPr>
          <a:xfrm>
            <a:off x="4152438" y="2277279"/>
            <a:ext cx="1331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Real Thermal State data </a:t>
            </a:r>
            <a:endParaRPr lang="en-SG" sz="12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E99981-B769-4146-7E39-1CCEF15DD573}"/>
              </a:ext>
            </a:extLst>
          </p:cNvPr>
          <p:cNvSpPr txBox="1"/>
          <p:nvPr/>
        </p:nvSpPr>
        <p:spPr>
          <a:xfrm>
            <a:off x="4373654" y="1848041"/>
            <a:ext cx="6658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UDP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B99600A-73CB-92FE-E4E9-F9CFB5E5B8AD}"/>
              </a:ext>
            </a:extLst>
          </p:cNvPr>
          <p:cNvSpPr/>
          <p:nvPr/>
        </p:nvSpPr>
        <p:spPr>
          <a:xfrm>
            <a:off x="5371390" y="2094978"/>
            <a:ext cx="924720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Client</a:t>
            </a:r>
            <a:endParaRPr lang="en-SG" sz="1050" b="1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02F5A03-AAE1-7142-E576-B6F2534795F4}"/>
              </a:ext>
            </a:extLst>
          </p:cNvPr>
          <p:cNvSpPr/>
          <p:nvPr/>
        </p:nvSpPr>
        <p:spPr>
          <a:xfrm>
            <a:off x="6459530" y="1552314"/>
            <a:ext cx="1291423" cy="29572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 err="1"/>
              <a:t>AES_Key</a:t>
            </a:r>
            <a:r>
              <a:rPr lang="en-US" sz="1050" b="1" dirty="0"/>
              <a:t> + </a:t>
            </a:r>
            <a:r>
              <a:rPr lang="en-US" sz="1050" b="1" dirty="0" err="1"/>
              <a:t>IoT_iv</a:t>
            </a:r>
            <a:endParaRPr lang="en-SG" sz="1050" b="1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83B69EC-B295-C280-5E58-E45D456C47E3}"/>
              </a:ext>
            </a:extLst>
          </p:cNvPr>
          <p:cNvSpPr/>
          <p:nvPr/>
        </p:nvSpPr>
        <p:spPr>
          <a:xfrm>
            <a:off x="6477818" y="2094978"/>
            <a:ext cx="1273135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Data Encryption</a:t>
            </a:r>
            <a:endParaRPr lang="en-SG" sz="1050" b="1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2F4EF31-54B6-D40E-F3B1-8096992492FC}"/>
              </a:ext>
            </a:extLst>
          </p:cNvPr>
          <p:cNvCxnSpPr>
            <a:cxnSpLocks/>
          </p:cNvCxnSpPr>
          <p:nvPr/>
        </p:nvCxnSpPr>
        <p:spPr>
          <a:xfrm flipV="1">
            <a:off x="6296110" y="2251986"/>
            <a:ext cx="1817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E603D39-53BF-ABE5-A0AF-018D5B95A721}"/>
              </a:ext>
            </a:extLst>
          </p:cNvPr>
          <p:cNvCxnSpPr>
            <a:cxnSpLocks/>
          </p:cNvCxnSpPr>
          <p:nvPr/>
        </p:nvCxnSpPr>
        <p:spPr>
          <a:xfrm flipH="1">
            <a:off x="6931505" y="1883212"/>
            <a:ext cx="1" cy="1897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1639EB3-4B2E-B7BF-7EFE-282F305A3DF6}"/>
              </a:ext>
            </a:extLst>
          </p:cNvPr>
          <p:cNvSpPr txBox="1"/>
          <p:nvPr/>
        </p:nvSpPr>
        <p:spPr>
          <a:xfrm>
            <a:off x="5183566" y="1348140"/>
            <a:ext cx="1331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ZBRTT1 Thermal IoT Simulator</a:t>
            </a:r>
            <a:endParaRPr lang="en-SG" sz="1200" b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4063F6F-763F-56AC-0D63-D0F69071BC6C}"/>
              </a:ext>
            </a:extLst>
          </p:cNvPr>
          <p:cNvCxnSpPr>
            <a:cxnSpLocks/>
          </p:cNvCxnSpPr>
          <p:nvPr/>
        </p:nvCxnSpPr>
        <p:spPr>
          <a:xfrm flipH="1">
            <a:off x="6551648" y="2363528"/>
            <a:ext cx="1" cy="2547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852BD3F4-483F-5C5B-5857-7F1E20991F47}"/>
              </a:ext>
            </a:extLst>
          </p:cNvPr>
          <p:cNvSpPr/>
          <p:nvPr/>
        </p:nvSpPr>
        <p:spPr>
          <a:xfrm>
            <a:off x="5436540" y="2618241"/>
            <a:ext cx="1494965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MQTT Data Structure</a:t>
            </a:r>
            <a:endParaRPr lang="en-SG" sz="1050" b="1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3C8DC80-D89F-ED40-D1D3-AE9F0601FC0D}"/>
              </a:ext>
            </a:extLst>
          </p:cNvPr>
          <p:cNvSpPr/>
          <p:nvPr/>
        </p:nvSpPr>
        <p:spPr>
          <a:xfrm>
            <a:off x="7165624" y="2595623"/>
            <a:ext cx="924720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Client</a:t>
            </a:r>
            <a:endParaRPr lang="en-SG" sz="1050" b="1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916C455-858A-23DE-2147-54C37C303D85}"/>
              </a:ext>
            </a:extLst>
          </p:cNvPr>
          <p:cNvCxnSpPr>
            <a:cxnSpLocks/>
            <a:stCxn id="28" idx="3"/>
          </p:cNvCxnSpPr>
          <p:nvPr/>
        </p:nvCxnSpPr>
        <p:spPr>
          <a:xfrm flipV="1">
            <a:off x="6931505" y="2738944"/>
            <a:ext cx="22446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loud 33">
            <a:extLst>
              <a:ext uri="{FF2B5EF4-FFF2-40B4-BE49-F238E27FC236}">
                <a16:creationId xmlns:a16="http://schemas.microsoft.com/office/drawing/2014/main" id="{948B4C76-74E9-D7F0-6164-5E385EA91F09}"/>
              </a:ext>
            </a:extLst>
          </p:cNvPr>
          <p:cNvSpPr/>
          <p:nvPr/>
        </p:nvSpPr>
        <p:spPr>
          <a:xfrm>
            <a:off x="8324463" y="2372712"/>
            <a:ext cx="1185569" cy="732464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WIFI Network</a:t>
            </a:r>
            <a:endParaRPr lang="en-SG" sz="1100" b="1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3EC6B15-3A68-43D7-96E6-A56FCC517ECD}"/>
              </a:ext>
            </a:extLst>
          </p:cNvPr>
          <p:cNvCxnSpPr>
            <a:cxnSpLocks/>
          </p:cNvCxnSpPr>
          <p:nvPr/>
        </p:nvCxnSpPr>
        <p:spPr>
          <a:xfrm>
            <a:off x="8100001" y="2766104"/>
            <a:ext cx="17574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D0EA3AAE-4AC8-5951-9B83-825396CFCEF2}"/>
              </a:ext>
            </a:extLst>
          </p:cNvPr>
          <p:cNvSpPr/>
          <p:nvPr/>
        </p:nvSpPr>
        <p:spPr>
          <a:xfrm>
            <a:off x="9867088" y="2568463"/>
            <a:ext cx="1062441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Broker</a:t>
            </a:r>
            <a:endParaRPr lang="en-SG" sz="1050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A1217F0-9407-2836-320E-D63E83849B44}"/>
              </a:ext>
            </a:extLst>
          </p:cNvPr>
          <p:cNvSpPr txBox="1"/>
          <p:nvPr/>
        </p:nvSpPr>
        <p:spPr>
          <a:xfrm>
            <a:off x="9668473" y="1386376"/>
            <a:ext cx="1331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IoT Gateway Simulator </a:t>
            </a:r>
            <a:endParaRPr lang="en-SG" sz="1200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56853A5-878B-4CD2-6D99-065FE022294A}"/>
              </a:ext>
            </a:extLst>
          </p:cNvPr>
          <p:cNvSpPr txBox="1"/>
          <p:nvPr/>
        </p:nvSpPr>
        <p:spPr>
          <a:xfrm>
            <a:off x="8242461" y="1974275"/>
            <a:ext cx="13012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MQTT Data Publish </a:t>
            </a:r>
            <a:endParaRPr lang="en-SG" sz="1200" b="1" dirty="0"/>
          </a:p>
        </p:txBody>
      </p:sp>
    </p:spTree>
    <p:extLst>
      <p:ext uri="{BB962C8B-B14F-4D97-AF65-F5344CB8AC3E}">
        <p14:creationId xmlns:p14="http://schemas.microsoft.com/office/powerpoint/2010/main" val="37886689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77">
            <a:extLst>
              <a:ext uri="{FF2B5EF4-FFF2-40B4-BE49-F238E27FC236}">
                <a16:creationId xmlns:a16="http://schemas.microsoft.com/office/drawing/2014/main" id="{A153CD48-D451-ADB0-EF08-EB3856D4FCCA}"/>
              </a:ext>
            </a:extLst>
          </p:cNvPr>
          <p:cNvSpPr/>
          <p:nvPr/>
        </p:nvSpPr>
        <p:spPr>
          <a:xfrm>
            <a:off x="6139726" y="2228135"/>
            <a:ext cx="2111994" cy="8425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37A8677-8040-C491-6D80-73149652E6CE}"/>
              </a:ext>
            </a:extLst>
          </p:cNvPr>
          <p:cNvSpPr/>
          <p:nvPr/>
        </p:nvSpPr>
        <p:spPr>
          <a:xfrm>
            <a:off x="6153184" y="3343298"/>
            <a:ext cx="2489871" cy="299581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7DD3D4-6B5E-7CB5-E003-2C037546352E}"/>
              </a:ext>
            </a:extLst>
          </p:cNvPr>
          <p:cNvSpPr/>
          <p:nvPr/>
        </p:nvSpPr>
        <p:spPr>
          <a:xfrm>
            <a:off x="548582" y="1775115"/>
            <a:ext cx="3628752" cy="460933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83D0994-FFC7-B371-BE19-4F804F4F3BC3}"/>
              </a:ext>
            </a:extLst>
          </p:cNvPr>
          <p:cNvSpPr txBox="1"/>
          <p:nvPr/>
        </p:nvSpPr>
        <p:spPr>
          <a:xfrm>
            <a:off x="6139725" y="3435491"/>
            <a:ext cx="27328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50000"/>
                  </a:schemeClr>
                </a:solidFill>
              </a:rPr>
              <a:t>Air Vacuum System Control RTU Simulation Framework</a:t>
            </a:r>
            <a:endParaRPr lang="en-SG" sz="14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85B9271-91E4-96A0-FFD7-67E7E3B97AB1}"/>
              </a:ext>
            </a:extLst>
          </p:cNvPr>
          <p:cNvSpPr txBox="1"/>
          <p:nvPr/>
        </p:nvSpPr>
        <p:spPr>
          <a:xfrm>
            <a:off x="4355376" y="1878787"/>
            <a:ext cx="28846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Level1 OT Controller Devices </a:t>
            </a:r>
            <a:endParaRPr lang="en-SG" sz="1400" b="1" dirty="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410193F1-FCF7-0996-4AFD-5FEB7922A1DC}"/>
              </a:ext>
            </a:extLst>
          </p:cNvPr>
          <p:cNvSpPr/>
          <p:nvPr/>
        </p:nvSpPr>
        <p:spPr>
          <a:xfrm>
            <a:off x="6828449" y="4216075"/>
            <a:ext cx="1494965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Input Parameter </a:t>
            </a:r>
            <a:r>
              <a:rPr lang="en-US" sz="1050" b="1" dirty="0" err="1"/>
              <a:t>Dict</a:t>
            </a:r>
            <a:endParaRPr lang="en-SG" sz="1050" b="1" dirty="0"/>
          </a:p>
        </p:txBody>
      </p:sp>
      <p:pic>
        <p:nvPicPr>
          <p:cNvPr id="82" name="Picture 81">
            <a:extLst>
              <a:ext uri="{FF2B5EF4-FFF2-40B4-BE49-F238E27FC236}">
                <a16:creationId xmlns:a16="http://schemas.microsoft.com/office/drawing/2014/main" id="{0C4944A4-AC6E-C358-AD9C-F8CDE9B6C9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487" y="4797562"/>
            <a:ext cx="762864" cy="663898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4D271E74-DEAC-DBC5-E155-98AC307DE59C}"/>
              </a:ext>
            </a:extLst>
          </p:cNvPr>
          <p:cNvCxnSpPr>
            <a:cxnSpLocks/>
          </p:cNvCxnSpPr>
          <p:nvPr/>
        </p:nvCxnSpPr>
        <p:spPr>
          <a:xfrm>
            <a:off x="7405919" y="4503587"/>
            <a:ext cx="0" cy="245081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587F13EF-BB40-8784-CA1E-3F7F9B4EDF0E}"/>
              </a:ext>
            </a:extLst>
          </p:cNvPr>
          <p:cNvSpPr txBox="1"/>
          <p:nvPr/>
        </p:nvSpPr>
        <p:spPr>
          <a:xfrm>
            <a:off x="508106" y="1382385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Level0 OT Physical Field I/O Devices </a:t>
            </a:r>
            <a:endParaRPr lang="en-SG" sz="1400" b="1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C0089D7C-7E8D-AD1C-D162-A3C3BE67C8FF}"/>
              </a:ext>
            </a:extLst>
          </p:cNvPr>
          <p:cNvSpPr txBox="1"/>
          <p:nvPr/>
        </p:nvSpPr>
        <p:spPr>
          <a:xfrm>
            <a:off x="6343070" y="4776248"/>
            <a:ext cx="8754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Auto</a:t>
            </a:r>
          </a:p>
          <a:p>
            <a:r>
              <a:rPr lang="en-US" sz="1200" b="1" dirty="0"/>
              <a:t>Control </a:t>
            </a:r>
          </a:p>
          <a:p>
            <a:r>
              <a:rPr lang="en-US" sz="1200" b="1" dirty="0"/>
              <a:t>Logic</a:t>
            </a:r>
            <a:endParaRPr lang="en-SG" sz="1200" b="1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A2733834-1F35-5EC2-2694-CCCF1592DCF7}"/>
              </a:ext>
            </a:extLst>
          </p:cNvPr>
          <p:cNvSpPr/>
          <p:nvPr/>
        </p:nvSpPr>
        <p:spPr>
          <a:xfrm>
            <a:off x="6856943" y="5779919"/>
            <a:ext cx="157358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Output Parameter </a:t>
            </a:r>
            <a:r>
              <a:rPr lang="en-US" sz="1050" b="1" dirty="0" err="1"/>
              <a:t>Dict</a:t>
            </a:r>
            <a:endParaRPr lang="en-SG" sz="1050" b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CE8F210-3F43-6E6B-8F0E-548004A1C5B5}"/>
              </a:ext>
            </a:extLst>
          </p:cNvPr>
          <p:cNvSpPr/>
          <p:nvPr/>
        </p:nvSpPr>
        <p:spPr>
          <a:xfrm>
            <a:off x="3710639" y="5549649"/>
            <a:ext cx="1183100" cy="55916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 Electrical Signal RTU Output</a:t>
            </a:r>
            <a:endParaRPr lang="en-SG" sz="1050" b="1" dirty="0"/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D81C8210-C0E7-B3E4-859C-1F4918518F21}"/>
              </a:ext>
            </a:extLst>
          </p:cNvPr>
          <p:cNvCxnSpPr>
            <a:cxnSpLocks/>
          </p:cNvCxnSpPr>
          <p:nvPr/>
        </p:nvCxnSpPr>
        <p:spPr>
          <a:xfrm>
            <a:off x="7389522" y="5450614"/>
            <a:ext cx="0" cy="329305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58B4CEA2-012D-1E0A-676D-15BF8BE1A4D0}"/>
              </a:ext>
            </a:extLst>
          </p:cNvPr>
          <p:cNvCxnSpPr>
            <a:cxnSpLocks/>
            <a:endCxn id="80" idx="1"/>
          </p:cNvCxnSpPr>
          <p:nvPr/>
        </p:nvCxnSpPr>
        <p:spPr>
          <a:xfrm>
            <a:off x="6524657" y="4352544"/>
            <a:ext cx="303792" cy="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6D4977DE-76D9-A860-79E2-C07C7F2576C6}"/>
              </a:ext>
            </a:extLst>
          </p:cNvPr>
          <p:cNvCxnSpPr>
            <a:cxnSpLocks/>
          </p:cNvCxnSpPr>
          <p:nvPr/>
        </p:nvCxnSpPr>
        <p:spPr>
          <a:xfrm flipH="1" flipV="1">
            <a:off x="6482118" y="5906414"/>
            <a:ext cx="353860" cy="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AFAAA84E-DCD0-D7B7-9C0E-9E1FF741C098}"/>
              </a:ext>
            </a:extLst>
          </p:cNvPr>
          <p:cNvSpPr txBox="1"/>
          <p:nvPr/>
        </p:nvSpPr>
        <p:spPr>
          <a:xfrm>
            <a:off x="6236637" y="2217205"/>
            <a:ext cx="1741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dirty="0">
                <a:solidFill>
                  <a:schemeClr val="accent6">
                    <a:lumMod val="50000"/>
                  </a:schemeClr>
                </a:solidFill>
              </a:rPr>
              <a:t>IoT 5G Antenna 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AEA0A740-926A-31A2-62D0-5B65F5211AC2}"/>
              </a:ext>
            </a:extLst>
          </p:cNvPr>
          <p:cNvSpPr/>
          <p:nvPr/>
        </p:nvSpPr>
        <p:spPr>
          <a:xfrm>
            <a:off x="8118696" y="4779235"/>
            <a:ext cx="965256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050" b="1" dirty="0"/>
              <a:t>MQTT Client</a:t>
            </a: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525058C5-A339-2CFC-1C58-5CE6271AD8F4}"/>
              </a:ext>
            </a:extLst>
          </p:cNvPr>
          <p:cNvCxnSpPr>
            <a:cxnSpLocks/>
          </p:cNvCxnSpPr>
          <p:nvPr/>
        </p:nvCxnSpPr>
        <p:spPr>
          <a:xfrm>
            <a:off x="8175929" y="4517566"/>
            <a:ext cx="0" cy="2586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1F028600-722A-7E17-3136-F930C49E08B3}"/>
              </a:ext>
            </a:extLst>
          </p:cNvPr>
          <p:cNvCxnSpPr>
            <a:cxnSpLocks/>
          </p:cNvCxnSpPr>
          <p:nvPr/>
        </p:nvCxnSpPr>
        <p:spPr>
          <a:xfrm>
            <a:off x="8242022" y="5549649"/>
            <a:ext cx="0" cy="2302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B5E7F4B0-DED2-7A1B-F640-5CE78714CAD8}"/>
              </a:ext>
            </a:extLst>
          </p:cNvPr>
          <p:cNvCxnSpPr>
            <a:cxnSpLocks/>
          </p:cNvCxnSpPr>
          <p:nvPr/>
        </p:nvCxnSpPr>
        <p:spPr>
          <a:xfrm flipV="1">
            <a:off x="6179331" y="2651652"/>
            <a:ext cx="3326772" cy="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C89FBE41-3283-2925-4DAA-C08C2D5F28AA}"/>
              </a:ext>
            </a:extLst>
          </p:cNvPr>
          <p:cNvSpPr txBox="1"/>
          <p:nvPr/>
        </p:nvSpPr>
        <p:spPr>
          <a:xfrm>
            <a:off x="6273795" y="2636303"/>
            <a:ext cx="213023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>
                <a:solidFill>
                  <a:schemeClr val="accent2">
                    <a:lumMod val="50000"/>
                  </a:schemeClr>
                </a:solidFill>
              </a:rPr>
              <a:t>Data Publish (Drone fly data</a:t>
            </a:r>
            <a:r>
              <a:rPr lang="en-SG" sz="1100" b="1" dirty="0">
                <a:solidFill>
                  <a:schemeClr val="accent6">
                    <a:lumMod val="50000"/>
                  </a:schemeClr>
                </a:solidFill>
              </a:rPr>
              <a:t>)</a:t>
            </a:r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5932A095-9191-172B-C9FE-AC4425BA43D9}"/>
              </a:ext>
            </a:extLst>
          </p:cNvPr>
          <p:cNvCxnSpPr/>
          <p:nvPr/>
        </p:nvCxnSpPr>
        <p:spPr>
          <a:xfrm rot="5400000" flipH="1" flipV="1">
            <a:off x="8118493" y="3521219"/>
            <a:ext cx="2141721" cy="633500"/>
          </a:xfrm>
          <a:prstGeom prst="bentConnector3">
            <a:avLst>
              <a:gd name="adj1" fmla="val 99607"/>
            </a:avLst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5F31E912-988C-98F9-A0F3-408D966AC1D7}"/>
              </a:ext>
            </a:extLst>
          </p:cNvPr>
          <p:cNvSpPr txBox="1"/>
          <p:nvPr/>
        </p:nvSpPr>
        <p:spPr>
          <a:xfrm>
            <a:off x="8292078" y="3858927"/>
            <a:ext cx="113381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>
                <a:solidFill>
                  <a:schemeClr val="accent2">
                    <a:lumMod val="50000"/>
                  </a:schemeClr>
                </a:solidFill>
              </a:rPr>
              <a:t>Data Publish ( temp and fan-speed data</a:t>
            </a:r>
            <a:r>
              <a:rPr lang="en-SG" sz="1100" b="1" dirty="0">
                <a:solidFill>
                  <a:schemeClr val="accent6">
                    <a:lumMod val="50000"/>
                  </a:schemeClr>
                </a:solidFill>
              </a:rPr>
              <a:t>)</a:t>
            </a:r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174AD778-74FB-B924-27B5-FFD874A5F6DD}"/>
              </a:ext>
            </a:extLst>
          </p:cNvPr>
          <p:cNvCxnSpPr>
            <a:endCxn id="81" idx="3"/>
          </p:cNvCxnSpPr>
          <p:nvPr/>
        </p:nvCxnSpPr>
        <p:spPr>
          <a:xfrm rot="5400000">
            <a:off x="8209305" y="3527640"/>
            <a:ext cx="2296723" cy="547428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5F4CB6EC-3BB3-C9CE-4BB0-7C66CC110353}"/>
              </a:ext>
            </a:extLst>
          </p:cNvPr>
          <p:cNvCxnSpPr>
            <a:cxnSpLocks/>
          </p:cNvCxnSpPr>
          <p:nvPr/>
        </p:nvCxnSpPr>
        <p:spPr>
          <a:xfrm flipV="1">
            <a:off x="4663006" y="1567050"/>
            <a:ext cx="62030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TextBox 142">
            <a:extLst>
              <a:ext uri="{FF2B5EF4-FFF2-40B4-BE49-F238E27FC236}">
                <a16:creationId xmlns:a16="http://schemas.microsoft.com/office/drawing/2014/main" id="{FF26E35C-F07C-D71E-9EE1-21F5BA435C29}"/>
              </a:ext>
            </a:extLst>
          </p:cNvPr>
          <p:cNvSpPr txBox="1"/>
          <p:nvPr/>
        </p:nvSpPr>
        <p:spPr>
          <a:xfrm>
            <a:off x="5330009" y="1421456"/>
            <a:ext cx="21257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>
                <a:solidFill>
                  <a:schemeClr val="accent6">
                    <a:lumMod val="75000"/>
                  </a:schemeClr>
                </a:solidFill>
              </a:rPr>
              <a:t>MQTT Data Subscribe Request</a:t>
            </a:r>
          </a:p>
        </p:txBody>
      </p: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A1D14FC2-D575-B83B-3310-6F877724A0F1}"/>
              </a:ext>
            </a:extLst>
          </p:cNvPr>
          <p:cNvCxnSpPr>
            <a:cxnSpLocks/>
          </p:cNvCxnSpPr>
          <p:nvPr/>
        </p:nvCxnSpPr>
        <p:spPr>
          <a:xfrm>
            <a:off x="4677832" y="1783408"/>
            <a:ext cx="605480" cy="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19BA9486-9630-D344-1BE6-3CA911C992FC}"/>
              </a:ext>
            </a:extLst>
          </p:cNvPr>
          <p:cNvSpPr txBox="1"/>
          <p:nvPr/>
        </p:nvSpPr>
        <p:spPr>
          <a:xfrm>
            <a:off x="5337689" y="1642185"/>
            <a:ext cx="21257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>
                <a:solidFill>
                  <a:schemeClr val="accent2">
                    <a:lumMod val="50000"/>
                  </a:schemeClr>
                </a:solidFill>
              </a:rPr>
              <a:t>MQTT Data Publish Request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503D145-A7A6-19DE-CBAD-F0264A76DE70}"/>
              </a:ext>
            </a:extLst>
          </p:cNvPr>
          <p:cNvSpPr/>
          <p:nvPr/>
        </p:nvSpPr>
        <p:spPr>
          <a:xfrm>
            <a:off x="8128462" y="5218211"/>
            <a:ext cx="965256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050" b="1" dirty="0"/>
              <a:t>MQTT Broker</a:t>
            </a:r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4ED4F42A-0BEE-8BF1-BA0B-EF2804695581}"/>
              </a:ext>
            </a:extLst>
          </p:cNvPr>
          <p:cNvCxnSpPr>
            <a:cxnSpLocks/>
            <a:endCxn id="81" idx="1"/>
          </p:cNvCxnSpPr>
          <p:nvPr/>
        </p:nvCxnSpPr>
        <p:spPr>
          <a:xfrm rot="5400000" flipH="1" flipV="1">
            <a:off x="7598276" y="5259499"/>
            <a:ext cx="830203" cy="210638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60443A5-3904-604F-97A6-3E8435033BFF}"/>
              </a:ext>
            </a:extLst>
          </p:cNvPr>
          <p:cNvCxnSpPr>
            <a:cxnSpLocks/>
            <a:endCxn id="2" idx="3"/>
          </p:cNvCxnSpPr>
          <p:nvPr/>
        </p:nvCxnSpPr>
        <p:spPr>
          <a:xfrm rot="10800000" flipV="1">
            <a:off x="9093719" y="4866826"/>
            <a:ext cx="950865" cy="521866"/>
          </a:xfrm>
          <a:prstGeom prst="bentConnector3">
            <a:avLst>
              <a:gd name="adj1" fmla="val 36537"/>
            </a:avLst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9385657-537C-6196-4B7C-14E3DBFF65FF}"/>
              </a:ext>
            </a:extLst>
          </p:cNvPr>
          <p:cNvSpPr txBox="1"/>
          <p:nvPr/>
        </p:nvSpPr>
        <p:spPr>
          <a:xfrm>
            <a:off x="8682802" y="5692668"/>
            <a:ext cx="1349727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>
                <a:solidFill>
                  <a:schemeClr val="accent2">
                    <a:lumMod val="50000"/>
                  </a:schemeClr>
                </a:solidFill>
              </a:rPr>
              <a:t>Data Publish ( Direct Overwrite control</a:t>
            </a:r>
            <a:endParaRPr lang="en-SG" sz="11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5DB6C0B-30EB-231C-FF38-13807B49F5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278" y="1904256"/>
            <a:ext cx="3449940" cy="1854343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931986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40">
            <a:extLst>
              <a:ext uri="{FF2B5EF4-FFF2-40B4-BE49-F238E27FC236}">
                <a16:creationId xmlns:a16="http://schemas.microsoft.com/office/drawing/2014/main" id="{38FC5D79-06E9-A9C0-177F-EAE296E672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3318" y="3175707"/>
            <a:ext cx="2595799" cy="1235195"/>
          </a:xfrm>
          <a:prstGeom prst="rect">
            <a:avLst/>
          </a:prstGeom>
          <a:ln w="12700">
            <a:solidFill>
              <a:schemeClr val="bg1"/>
            </a:solidFill>
          </a:ln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C213BAC0-887D-1526-1BCB-E903207D4765}"/>
              </a:ext>
            </a:extLst>
          </p:cNvPr>
          <p:cNvSpPr/>
          <p:nvPr/>
        </p:nvSpPr>
        <p:spPr>
          <a:xfrm>
            <a:off x="349924" y="1921230"/>
            <a:ext cx="1430530" cy="9614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A3E9129-8F48-4918-C730-EB191FA80312}"/>
              </a:ext>
            </a:extLst>
          </p:cNvPr>
          <p:cNvSpPr txBox="1"/>
          <p:nvPr/>
        </p:nvSpPr>
        <p:spPr>
          <a:xfrm>
            <a:off x="383120" y="1921230"/>
            <a:ext cx="1331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ZBRTT1 Thermal IoT Simulator2</a:t>
            </a:r>
            <a:endParaRPr lang="en-SG" sz="1200" b="1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D7FCF48-B005-3A63-CD44-11B917D66B71}"/>
              </a:ext>
            </a:extLst>
          </p:cNvPr>
          <p:cNvSpPr/>
          <p:nvPr/>
        </p:nvSpPr>
        <p:spPr>
          <a:xfrm>
            <a:off x="583223" y="2396151"/>
            <a:ext cx="924720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Client</a:t>
            </a:r>
            <a:endParaRPr lang="en-SG" sz="1050" b="1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8C34148-B37B-F536-C5E7-710A58150310}"/>
              </a:ext>
            </a:extLst>
          </p:cNvPr>
          <p:cNvSpPr/>
          <p:nvPr/>
        </p:nvSpPr>
        <p:spPr>
          <a:xfrm>
            <a:off x="3696481" y="1114188"/>
            <a:ext cx="4799038" cy="176784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B5BD74B-BCAA-DFF6-7B51-DAA5F5E65C14}"/>
              </a:ext>
            </a:extLst>
          </p:cNvPr>
          <p:cNvSpPr/>
          <p:nvPr/>
        </p:nvSpPr>
        <p:spPr>
          <a:xfrm>
            <a:off x="4500347" y="2396151"/>
            <a:ext cx="1062441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Broker</a:t>
            </a:r>
            <a:endParaRPr lang="en-SG" sz="1050" b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3200C06-A5F7-71EC-669E-0CA0A1AEB80D}"/>
              </a:ext>
            </a:extLst>
          </p:cNvPr>
          <p:cNvSpPr txBox="1"/>
          <p:nvPr/>
        </p:nvSpPr>
        <p:spPr>
          <a:xfrm>
            <a:off x="3735914" y="1163236"/>
            <a:ext cx="1331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IoT Gateway Simulator </a:t>
            </a:r>
            <a:endParaRPr lang="en-SG" sz="1200" b="1" dirty="0"/>
          </a:p>
        </p:txBody>
      </p:sp>
      <p:sp>
        <p:nvSpPr>
          <p:cNvPr id="48" name="Cloud 47">
            <a:extLst>
              <a:ext uri="{FF2B5EF4-FFF2-40B4-BE49-F238E27FC236}">
                <a16:creationId xmlns:a16="http://schemas.microsoft.com/office/drawing/2014/main" id="{8B2E012C-2AEC-A255-18B0-7A28027C3B4F}"/>
              </a:ext>
            </a:extLst>
          </p:cNvPr>
          <p:cNvSpPr/>
          <p:nvPr/>
        </p:nvSpPr>
        <p:spPr>
          <a:xfrm>
            <a:off x="2169869" y="1979091"/>
            <a:ext cx="1254101" cy="732464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2.4G WIFI Network</a:t>
            </a:r>
            <a:endParaRPr lang="en-SG" sz="1100" b="1" dirty="0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3CAD27B-5E8C-936B-6041-0DFBE13878E5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1507943" y="2541956"/>
            <a:ext cx="29924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2191BCA-C04D-123C-4DE6-DA58076E7D4B}"/>
              </a:ext>
            </a:extLst>
          </p:cNvPr>
          <p:cNvSpPr txBox="1"/>
          <p:nvPr/>
        </p:nvSpPr>
        <p:spPr>
          <a:xfrm>
            <a:off x="1987242" y="1678958"/>
            <a:ext cx="1709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MQTT Data Publish </a:t>
            </a:r>
            <a:endParaRPr lang="en-SG" sz="1200" b="1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C38CC57-646C-87DE-DF09-A05C848F1E0C}"/>
              </a:ext>
            </a:extLst>
          </p:cNvPr>
          <p:cNvCxnSpPr>
            <a:cxnSpLocks/>
          </p:cNvCxnSpPr>
          <p:nvPr/>
        </p:nvCxnSpPr>
        <p:spPr>
          <a:xfrm flipV="1">
            <a:off x="4588680" y="2127664"/>
            <a:ext cx="0" cy="2684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EF5F7C99-A1F4-DFBB-2EA8-AC4D0A7C945C}"/>
              </a:ext>
            </a:extLst>
          </p:cNvPr>
          <p:cNvSpPr/>
          <p:nvPr/>
        </p:nvSpPr>
        <p:spPr>
          <a:xfrm>
            <a:off x="3915511" y="1813970"/>
            <a:ext cx="1273135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Data Decryption</a:t>
            </a:r>
            <a:endParaRPr lang="en-SG" sz="1050" b="1" dirty="0"/>
          </a:p>
        </p:txBody>
      </p:sp>
      <p:sp>
        <p:nvSpPr>
          <p:cNvPr id="58" name="Cylinder 57">
            <a:extLst>
              <a:ext uri="{FF2B5EF4-FFF2-40B4-BE49-F238E27FC236}">
                <a16:creationId xmlns:a16="http://schemas.microsoft.com/office/drawing/2014/main" id="{F7D5C1B6-1A38-5955-8B5E-FE9266EB678F}"/>
              </a:ext>
            </a:extLst>
          </p:cNvPr>
          <p:cNvSpPr/>
          <p:nvPr/>
        </p:nvSpPr>
        <p:spPr>
          <a:xfrm>
            <a:off x="4911609" y="1199520"/>
            <a:ext cx="514924" cy="468643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DB1</a:t>
            </a:r>
            <a:endParaRPr lang="en-SG" sz="14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7BCEA57-F9C1-9C69-8529-358DFF8F232F}"/>
              </a:ext>
            </a:extLst>
          </p:cNvPr>
          <p:cNvSpPr txBox="1"/>
          <p:nvPr/>
        </p:nvSpPr>
        <p:spPr>
          <a:xfrm>
            <a:off x="3755446" y="682017"/>
            <a:ext cx="20421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IoT Key and iv Data Base</a:t>
            </a:r>
            <a:endParaRPr lang="en-SG" sz="1200" b="1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3CBD85BA-7257-DB47-F830-49C97C8156D3}"/>
              </a:ext>
            </a:extLst>
          </p:cNvPr>
          <p:cNvCxnSpPr>
            <a:cxnSpLocks/>
            <a:stCxn id="58" idx="2"/>
          </p:cNvCxnSpPr>
          <p:nvPr/>
        </p:nvCxnSpPr>
        <p:spPr>
          <a:xfrm rot="10800000" flipV="1">
            <a:off x="4737809" y="1433842"/>
            <a:ext cx="173801" cy="35984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>
            <a:extLst>
              <a:ext uri="{FF2B5EF4-FFF2-40B4-BE49-F238E27FC236}">
                <a16:creationId xmlns:a16="http://schemas.microsoft.com/office/drawing/2014/main" id="{44011946-F610-2EB5-AEDD-46E9D44710FF}"/>
              </a:ext>
            </a:extLst>
          </p:cNvPr>
          <p:cNvSpPr/>
          <p:nvPr/>
        </p:nvSpPr>
        <p:spPr>
          <a:xfrm>
            <a:off x="5407675" y="1813970"/>
            <a:ext cx="1151442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Data Combine</a:t>
            </a:r>
            <a:endParaRPr lang="en-SG" sz="1050" b="1" dirty="0"/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83E0896-93D4-3C4A-4620-DFC006F3299B}"/>
              </a:ext>
            </a:extLst>
          </p:cNvPr>
          <p:cNvCxnSpPr>
            <a:cxnSpLocks/>
            <a:stCxn id="57" idx="3"/>
            <a:endCxn id="69" idx="1"/>
          </p:cNvCxnSpPr>
          <p:nvPr/>
        </p:nvCxnSpPr>
        <p:spPr>
          <a:xfrm>
            <a:off x="5188646" y="1961834"/>
            <a:ext cx="21902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>
            <a:extLst>
              <a:ext uri="{FF2B5EF4-FFF2-40B4-BE49-F238E27FC236}">
                <a16:creationId xmlns:a16="http://schemas.microsoft.com/office/drawing/2014/main" id="{5A123A3E-3ADF-8760-30CF-CCD3ACEB0409}"/>
              </a:ext>
            </a:extLst>
          </p:cNvPr>
          <p:cNvSpPr/>
          <p:nvPr/>
        </p:nvSpPr>
        <p:spPr>
          <a:xfrm>
            <a:off x="6785819" y="1214870"/>
            <a:ext cx="1401378" cy="29572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 err="1"/>
              <a:t>AES_Key</a:t>
            </a:r>
            <a:r>
              <a:rPr lang="en-US" sz="1050" b="1" dirty="0"/>
              <a:t> + </a:t>
            </a:r>
            <a:r>
              <a:rPr lang="en-US" sz="1050" b="1" dirty="0" err="1"/>
              <a:t>IoT_iv</a:t>
            </a:r>
            <a:endParaRPr lang="en-SG" sz="1050" b="1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6EFEEAF9-6F0F-4C55-4336-48558A5F85D3}"/>
              </a:ext>
            </a:extLst>
          </p:cNvPr>
          <p:cNvSpPr/>
          <p:nvPr/>
        </p:nvSpPr>
        <p:spPr>
          <a:xfrm>
            <a:off x="6778146" y="1666106"/>
            <a:ext cx="1416724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2</a:t>
            </a:r>
            <a:r>
              <a:rPr lang="en-US" sz="1050" b="1" baseline="30000" dirty="0"/>
              <a:t>nd</a:t>
            </a:r>
            <a:r>
              <a:rPr lang="en-US" sz="1050" b="1" dirty="0"/>
              <a:t> Data Encryption</a:t>
            </a:r>
            <a:endParaRPr lang="en-SG" sz="1050" b="1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35D5481-FD18-96BC-52A5-B63A929019F9}"/>
              </a:ext>
            </a:extLst>
          </p:cNvPr>
          <p:cNvSpPr/>
          <p:nvPr/>
        </p:nvSpPr>
        <p:spPr>
          <a:xfrm>
            <a:off x="6785819" y="2104270"/>
            <a:ext cx="1494965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MQTT Data Structure</a:t>
            </a:r>
            <a:endParaRPr lang="en-SG" sz="1050" b="1" dirty="0"/>
          </a:p>
        </p:txBody>
      </p: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3E67243B-49B6-697C-70AD-11961F66227E}"/>
              </a:ext>
            </a:extLst>
          </p:cNvPr>
          <p:cNvCxnSpPr>
            <a:stCxn id="69" idx="3"/>
            <a:endCxn id="75" idx="1"/>
          </p:cNvCxnSpPr>
          <p:nvPr/>
        </p:nvCxnSpPr>
        <p:spPr>
          <a:xfrm flipV="1">
            <a:off x="6559117" y="1813970"/>
            <a:ext cx="219029" cy="14786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D4D842D9-15B2-5453-2729-B486D5B10051}"/>
              </a:ext>
            </a:extLst>
          </p:cNvPr>
          <p:cNvCxnSpPr>
            <a:cxnSpLocks/>
            <a:stCxn id="74" idx="2"/>
            <a:endCxn id="75" idx="0"/>
          </p:cNvCxnSpPr>
          <p:nvPr/>
        </p:nvCxnSpPr>
        <p:spPr>
          <a:xfrm>
            <a:off x="7486508" y="1510597"/>
            <a:ext cx="0" cy="1555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1636B286-0A55-56CE-4EB6-0E45011F4857}"/>
              </a:ext>
            </a:extLst>
          </p:cNvPr>
          <p:cNvCxnSpPr>
            <a:cxnSpLocks/>
          </p:cNvCxnSpPr>
          <p:nvPr/>
        </p:nvCxnSpPr>
        <p:spPr>
          <a:xfrm>
            <a:off x="7480289" y="1972155"/>
            <a:ext cx="0" cy="1555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9CC74832-AF04-7038-D533-6C88417B9C54}"/>
              </a:ext>
            </a:extLst>
          </p:cNvPr>
          <p:cNvCxnSpPr>
            <a:cxnSpLocks/>
            <a:stCxn id="76" idx="1"/>
            <a:endCxn id="46" idx="0"/>
          </p:cNvCxnSpPr>
          <p:nvPr/>
        </p:nvCxnSpPr>
        <p:spPr>
          <a:xfrm rot="10800000" flipV="1">
            <a:off x="5031569" y="2252133"/>
            <a:ext cx="1754251" cy="14401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Cloud 3">
            <a:extLst>
              <a:ext uri="{FF2B5EF4-FFF2-40B4-BE49-F238E27FC236}">
                <a16:creationId xmlns:a16="http://schemas.microsoft.com/office/drawing/2014/main" id="{64F04FDE-92F1-F4F0-4C57-CCC7A8F9B973}"/>
              </a:ext>
            </a:extLst>
          </p:cNvPr>
          <p:cNvSpPr/>
          <p:nvPr/>
        </p:nvSpPr>
        <p:spPr>
          <a:xfrm>
            <a:off x="8644452" y="1948466"/>
            <a:ext cx="1185569" cy="732464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5G Network</a:t>
            </a:r>
            <a:endParaRPr lang="en-SG" sz="1100" b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C96FA81-4C9F-AC0C-B978-498855791389}"/>
              </a:ext>
            </a:extLst>
          </p:cNvPr>
          <p:cNvSpPr/>
          <p:nvPr/>
        </p:nvSpPr>
        <p:spPr>
          <a:xfrm>
            <a:off x="9901873" y="1072033"/>
            <a:ext cx="1468250" cy="176784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B5C939-79BB-1F0A-D825-69A1876AE264}"/>
              </a:ext>
            </a:extLst>
          </p:cNvPr>
          <p:cNvSpPr/>
          <p:nvPr/>
        </p:nvSpPr>
        <p:spPr>
          <a:xfrm>
            <a:off x="10150165" y="2324141"/>
            <a:ext cx="1025540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050" b="1" dirty="0"/>
              <a:t>MQTT Client</a:t>
            </a:r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0F019580-ACE8-A02D-5E2F-A71BCC00F30E}"/>
              </a:ext>
            </a:extLst>
          </p:cNvPr>
          <p:cNvCxnSpPr>
            <a:cxnSpLocks/>
          </p:cNvCxnSpPr>
          <p:nvPr/>
        </p:nvCxnSpPr>
        <p:spPr>
          <a:xfrm>
            <a:off x="5562788" y="2541956"/>
            <a:ext cx="455047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136A87C-07EF-5D97-CA3E-A9139E064498}"/>
              </a:ext>
            </a:extLst>
          </p:cNvPr>
          <p:cNvSpPr txBox="1"/>
          <p:nvPr/>
        </p:nvSpPr>
        <p:spPr>
          <a:xfrm>
            <a:off x="9941826" y="1126686"/>
            <a:ext cx="11514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Power Grid OCC HMI </a:t>
            </a:r>
            <a:endParaRPr lang="en-SG" sz="1200" b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E735ABF-94A9-94CA-BAEC-5D8310700E19}"/>
              </a:ext>
            </a:extLst>
          </p:cNvPr>
          <p:cNvSpPr/>
          <p:nvPr/>
        </p:nvSpPr>
        <p:spPr>
          <a:xfrm>
            <a:off x="3347282" y="3321535"/>
            <a:ext cx="1025540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050" b="1" dirty="0"/>
              <a:t>MQTT Client</a:t>
            </a: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AD1012A0-9E48-4361-04DA-A0BACE10335E}"/>
              </a:ext>
            </a:extLst>
          </p:cNvPr>
          <p:cNvCxnSpPr>
            <a:cxnSpLocks/>
            <a:stCxn id="10" idx="1"/>
          </p:cNvCxnSpPr>
          <p:nvPr/>
        </p:nvCxnSpPr>
        <p:spPr>
          <a:xfrm rot="10800000" flipH="1">
            <a:off x="3347281" y="2686854"/>
            <a:ext cx="1139129" cy="805162"/>
          </a:xfrm>
          <a:prstGeom prst="bentConnector3">
            <a:avLst>
              <a:gd name="adj1" fmla="val -8508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0CA6291-0FB1-11CA-3D0E-7CABD0D8974D}"/>
              </a:ext>
            </a:extLst>
          </p:cNvPr>
          <p:cNvSpPr txBox="1"/>
          <p:nvPr/>
        </p:nvSpPr>
        <p:spPr>
          <a:xfrm>
            <a:off x="3968493" y="2898708"/>
            <a:ext cx="1616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Local Monitor HMI </a:t>
            </a:r>
            <a:endParaRPr lang="en-SG" sz="1200" b="1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DF825B6-D809-D973-5A66-6E264E34D93D}"/>
              </a:ext>
            </a:extLst>
          </p:cNvPr>
          <p:cNvCxnSpPr>
            <a:cxnSpLocks/>
          </p:cNvCxnSpPr>
          <p:nvPr/>
        </p:nvCxnSpPr>
        <p:spPr>
          <a:xfrm>
            <a:off x="5161773" y="921299"/>
            <a:ext cx="0" cy="2561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Cylinder 12">
            <a:extLst>
              <a:ext uri="{FF2B5EF4-FFF2-40B4-BE49-F238E27FC236}">
                <a16:creationId xmlns:a16="http://schemas.microsoft.com/office/drawing/2014/main" id="{35835D16-5A69-8542-06D4-08D7AFD6F184}"/>
              </a:ext>
            </a:extLst>
          </p:cNvPr>
          <p:cNvSpPr/>
          <p:nvPr/>
        </p:nvSpPr>
        <p:spPr>
          <a:xfrm>
            <a:off x="5798059" y="1177492"/>
            <a:ext cx="514924" cy="468643"/>
          </a:xfrm>
          <a:prstGeom prst="can">
            <a:avLst>
              <a:gd name="adj" fmla="val 3877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DB2</a:t>
            </a:r>
            <a:endParaRPr lang="en-SG" sz="14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7B6FCD6-1773-3B83-C532-E038E1A3353C}"/>
              </a:ext>
            </a:extLst>
          </p:cNvPr>
          <p:cNvCxnSpPr>
            <a:cxnSpLocks/>
            <a:stCxn id="69" idx="0"/>
          </p:cNvCxnSpPr>
          <p:nvPr/>
        </p:nvCxnSpPr>
        <p:spPr>
          <a:xfrm flipV="1">
            <a:off x="5983396" y="1644695"/>
            <a:ext cx="0" cy="1692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B5F39E7-20B6-E049-FDC7-B2583DDE364A}"/>
              </a:ext>
            </a:extLst>
          </p:cNvPr>
          <p:cNvCxnSpPr>
            <a:cxnSpLocks/>
          </p:cNvCxnSpPr>
          <p:nvPr/>
        </p:nvCxnSpPr>
        <p:spPr>
          <a:xfrm>
            <a:off x="6096000" y="942675"/>
            <a:ext cx="0" cy="2112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02F1C5F-7A9C-D848-0FFB-905FAE72D37D}"/>
              </a:ext>
            </a:extLst>
          </p:cNvPr>
          <p:cNvSpPr txBox="1"/>
          <p:nvPr/>
        </p:nvSpPr>
        <p:spPr>
          <a:xfrm>
            <a:off x="5936727" y="673114"/>
            <a:ext cx="27077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Local Historian Archive Data Base </a:t>
            </a:r>
            <a:endParaRPr lang="en-SG" sz="1200" b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9B18E4D-2AE3-FE65-78A4-B19FD724CAFF}"/>
              </a:ext>
            </a:extLst>
          </p:cNvPr>
          <p:cNvSpPr/>
          <p:nvPr/>
        </p:nvSpPr>
        <p:spPr>
          <a:xfrm>
            <a:off x="383120" y="3237842"/>
            <a:ext cx="1430530" cy="9614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27F36D7-437C-CC9E-7ABB-6A073AA21AE7}"/>
              </a:ext>
            </a:extLst>
          </p:cNvPr>
          <p:cNvSpPr txBox="1"/>
          <p:nvPr/>
        </p:nvSpPr>
        <p:spPr>
          <a:xfrm>
            <a:off x="416316" y="3237842"/>
            <a:ext cx="1331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ZBRTT1 Thermal IoT Simulator-N</a:t>
            </a:r>
            <a:endParaRPr lang="en-SG" sz="1200" b="1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B53590E-345E-4377-6985-DEF4AAF87269}"/>
              </a:ext>
            </a:extLst>
          </p:cNvPr>
          <p:cNvSpPr/>
          <p:nvPr/>
        </p:nvSpPr>
        <p:spPr>
          <a:xfrm>
            <a:off x="616419" y="3712763"/>
            <a:ext cx="924720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Client</a:t>
            </a:r>
            <a:endParaRPr lang="en-SG" sz="1050" b="1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8CF051A-5E21-BEF6-87F3-8C39FFA75A7F}"/>
              </a:ext>
            </a:extLst>
          </p:cNvPr>
          <p:cNvSpPr/>
          <p:nvPr/>
        </p:nvSpPr>
        <p:spPr>
          <a:xfrm>
            <a:off x="336557" y="817468"/>
            <a:ext cx="1430530" cy="9614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C34AE7D-DB0D-173B-0F43-3AF139783994}"/>
              </a:ext>
            </a:extLst>
          </p:cNvPr>
          <p:cNvSpPr txBox="1"/>
          <p:nvPr/>
        </p:nvSpPr>
        <p:spPr>
          <a:xfrm>
            <a:off x="369753" y="817468"/>
            <a:ext cx="1331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ZBRTT1 Thermal IoT Simulator1</a:t>
            </a:r>
            <a:endParaRPr lang="en-SG" sz="1200" b="1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D39509A-0E0C-0200-2523-3567ADB3374A}"/>
              </a:ext>
            </a:extLst>
          </p:cNvPr>
          <p:cNvSpPr/>
          <p:nvPr/>
        </p:nvSpPr>
        <p:spPr>
          <a:xfrm>
            <a:off x="569856" y="1292389"/>
            <a:ext cx="924720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Client</a:t>
            </a:r>
            <a:endParaRPr lang="en-SG" sz="105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1CDF7D5-593C-F1BF-6C2B-D02ACF5CF963}"/>
              </a:ext>
            </a:extLst>
          </p:cNvPr>
          <p:cNvSpPr txBox="1"/>
          <p:nvPr/>
        </p:nvSpPr>
        <p:spPr>
          <a:xfrm>
            <a:off x="875657" y="2898707"/>
            <a:ext cx="4454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…</a:t>
            </a:r>
            <a:endParaRPr lang="en-SG" sz="1200" b="1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9D5420F-6E50-A0C9-7486-8CF44A369CA8}"/>
              </a:ext>
            </a:extLst>
          </p:cNvPr>
          <p:cNvCxnSpPr>
            <a:cxnSpLocks/>
            <a:stCxn id="28" idx="3"/>
            <a:endCxn id="25" idx="3"/>
          </p:cNvCxnSpPr>
          <p:nvPr/>
        </p:nvCxnSpPr>
        <p:spPr>
          <a:xfrm>
            <a:off x="1767087" y="1298191"/>
            <a:ext cx="46563" cy="2420374"/>
          </a:xfrm>
          <a:prstGeom prst="bentConnector3">
            <a:avLst>
              <a:gd name="adj1" fmla="val 590948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E4DB77B-B61C-AB43-FCAE-FB7E13F0AFD7}"/>
              </a:ext>
            </a:extLst>
          </p:cNvPr>
          <p:cNvSpPr txBox="1"/>
          <p:nvPr/>
        </p:nvSpPr>
        <p:spPr>
          <a:xfrm>
            <a:off x="8634270" y="1459565"/>
            <a:ext cx="1468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MQTT Data subscribe </a:t>
            </a:r>
            <a:endParaRPr lang="en-SG" sz="1200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5858FD-C830-288A-A455-1C13315FF5EA}"/>
              </a:ext>
            </a:extLst>
          </p:cNvPr>
          <p:cNvSpPr txBox="1"/>
          <p:nvPr/>
        </p:nvSpPr>
        <p:spPr>
          <a:xfrm>
            <a:off x="2418155" y="2981193"/>
            <a:ext cx="1468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MQTT Data subscribe </a:t>
            </a:r>
            <a:endParaRPr lang="en-SG" sz="1200" b="1" dirty="0"/>
          </a:p>
        </p:txBody>
      </p:sp>
    </p:spTree>
    <p:extLst>
      <p:ext uri="{BB962C8B-B14F-4D97-AF65-F5344CB8AC3E}">
        <p14:creationId xmlns:p14="http://schemas.microsoft.com/office/powerpoint/2010/main" val="1642225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7228B72-C4AC-B3C7-64C0-FBA1505526B8}"/>
              </a:ext>
            </a:extLst>
          </p:cNvPr>
          <p:cNvSpPr/>
          <p:nvPr/>
        </p:nvSpPr>
        <p:spPr>
          <a:xfrm>
            <a:off x="4768662" y="952824"/>
            <a:ext cx="1468193" cy="1499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51F3066-C3AC-5C44-D469-4404958752B1}"/>
              </a:ext>
            </a:extLst>
          </p:cNvPr>
          <p:cNvSpPr/>
          <p:nvPr/>
        </p:nvSpPr>
        <p:spPr>
          <a:xfrm>
            <a:off x="4956691" y="1999008"/>
            <a:ext cx="1062441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Broker</a:t>
            </a:r>
            <a:endParaRPr lang="en-SG" sz="105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133C87-FCC0-6ECC-E057-D6BD89B4F367}"/>
              </a:ext>
            </a:extLst>
          </p:cNvPr>
          <p:cNvSpPr txBox="1"/>
          <p:nvPr/>
        </p:nvSpPr>
        <p:spPr>
          <a:xfrm>
            <a:off x="4879823" y="965197"/>
            <a:ext cx="113930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Power Generation Area IoT Gateway </a:t>
            </a:r>
            <a:endParaRPr lang="en-SG" sz="1400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3A3E61-FBB0-73A1-A8D0-C9A7B4384E4A}"/>
              </a:ext>
            </a:extLst>
          </p:cNvPr>
          <p:cNvSpPr/>
          <p:nvPr/>
        </p:nvSpPr>
        <p:spPr>
          <a:xfrm>
            <a:off x="4768662" y="2778209"/>
            <a:ext cx="1468193" cy="1499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07E8018-BC85-1BA2-A10D-63D5FD7F754A}"/>
              </a:ext>
            </a:extLst>
          </p:cNvPr>
          <p:cNvSpPr/>
          <p:nvPr/>
        </p:nvSpPr>
        <p:spPr>
          <a:xfrm>
            <a:off x="4956691" y="3824393"/>
            <a:ext cx="1062441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Broker</a:t>
            </a:r>
            <a:endParaRPr lang="en-SG" sz="105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FC9071-7C2F-0BD8-EE11-E778CD1E4353}"/>
              </a:ext>
            </a:extLst>
          </p:cNvPr>
          <p:cNvSpPr txBox="1"/>
          <p:nvPr/>
        </p:nvSpPr>
        <p:spPr>
          <a:xfrm>
            <a:off x="4879823" y="2790582"/>
            <a:ext cx="13273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Power Transmission Area IoT Gateway </a:t>
            </a:r>
            <a:endParaRPr lang="en-SG" sz="1400" b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56331CB-5CFE-9975-BEAC-DC7F07DC312C}"/>
              </a:ext>
            </a:extLst>
          </p:cNvPr>
          <p:cNvSpPr/>
          <p:nvPr/>
        </p:nvSpPr>
        <p:spPr>
          <a:xfrm>
            <a:off x="4802500" y="4533719"/>
            <a:ext cx="1445941" cy="1499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126C1E8-F18B-92CD-486F-EB6C7E1405C9}"/>
              </a:ext>
            </a:extLst>
          </p:cNvPr>
          <p:cNvSpPr/>
          <p:nvPr/>
        </p:nvSpPr>
        <p:spPr>
          <a:xfrm>
            <a:off x="4956691" y="5579903"/>
            <a:ext cx="1062441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Broker</a:t>
            </a:r>
            <a:endParaRPr lang="en-SG" sz="105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6A6973-1E6D-D5F4-A4E8-60D04F37A7F7}"/>
              </a:ext>
            </a:extLst>
          </p:cNvPr>
          <p:cNvSpPr txBox="1"/>
          <p:nvPr/>
        </p:nvSpPr>
        <p:spPr>
          <a:xfrm>
            <a:off x="4879823" y="4546092"/>
            <a:ext cx="13273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Power Distribution Area IoT Gateway </a:t>
            </a:r>
            <a:endParaRPr lang="en-SG" sz="1400" b="1" dirty="0"/>
          </a:p>
        </p:txBody>
      </p:sp>
      <p:sp>
        <p:nvSpPr>
          <p:cNvPr id="15" name="Cloud 14">
            <a:extLst>
              <a:ext uri="{FF2B5EF4-FFF2-40B4-BE49-F238E27FC236}">
                <a16:creationId xmlns:a16="http://schemas.microsoft.com/office/drawing/2014/main" id="{CC15022D-AF90-3986-D9E3-9F3E3A1A81B2}"/>
              </a:ext>
            </a:extLst>
          </p:cNvPr>
          <p:cNvSpPr/>
          <p:nvPr/>
        </p:nvSpPr>
        <p:spPr>
          <a:xfrm>
            <a:off x="3463073" y="5283679"/>
            <a:ext cx="1185569" cy="732464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WIFI Network</a:t>
            </a:r>
            <a:endParaRPr lang="en-SG" sz="1100" b="1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AA2AD1C-4558-F4A7-59E9-49B92D8074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87" y="933462"/>
            <a:ext cx="2158778" cy="985842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1E9227BA-39A9-5868-A7BF-6CE3D3A38D68}"/>
              </a:ext>
            </a:extLst>
          </p:cNvPr>
          <p:cNvSpPr/>
          <p:nvPr/>
        </p:nvSpPr>
        <p:spPr>
          <a:xfrm>
            <a:off x="1824836" y="1702784"/>
            <a:ext cx="924720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Client</a:t>
            </a:r>
            <a:endParaRPr lang="en-SG" sz="1050" b="1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ED4CFEDC-7F31-A092-AD37-0C5D659E6703}"/>
              </a:ext>
            </a:extLst>
          </p:cNvPr>
          <p:cNvCxnSpPr>
            <a:cxnSpLocks/>
            <a:stCxn id="18" idx="2"/>
            <a:endCxn id="5" idx="1"/>
          </p:cNvCxnSpPr>
          <p:nvPr/>
        </p:nvCxnSpPr>
        <p:spPr>
          <a:xfrm rot="16200000" flipH="1">
            <a:off x="3559072" y="771869"/>
            <a:ext cx="125743" cy="26694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loud 12">
            <a:extLst>
              <a:ext uri="{FF2B5EF4-FFF2-40B4-BE49-F238E27FC236}">
                <a16:creationId xmlns:a16="http://schemas.microsoft.com/office/drawing/2014/main" id="{A4B6D679-37A5-6B32-3D9D-7D2CC937CB83}"/>
              </a:ext>
            </a:extLst>
          </p:cNvPr>
          <p:cNvSpPr/>
          <p:nvPr/>
        </p:nvSpPr>
        <p:spPr>
          <a:xfrm>
            <a:off x="3472765" y="1702784"/>
            <a:ext cx="1185569" cy="732464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WIFI Network</a:t>
            </a:r>
            <a:endParaRPr lang="en-SG" sz="1100" b="1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E4B31E91-1C17-6F5D-4405-167E52E04A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87" y="2618843"/>
            <a:ext cx="2158778" cy="985842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742E354E-16F6-F758-F748-B154F1AED4C0}"/>
              </a:ext>
            </a:extLst>
          </p:cNvPr>
          <p:cNvSpPr/>
          <p:nvPr/>
        </p:nvSpPr>
        <p:spPr>
          <a:xfrm>
            <a:off x="1935164" y="3309648"/>
            <a:ext cx="924720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Client</a:t>
            </a:r>
            <a:endParaRPr lang="en-SG" sz="1050" b="1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0A6182EB-4D64-4CB2-B941-2C039CC71605}"/>
              </a:ext>
            </a:extLst>
          </p:cNvPr>
          <p:cNvCxnSpPr>
            <a:cxnSpLocks/>
            <a:stCxn id="25" idx="2"/>
            <a:endCxn id="8" idx="1"/>
          </p:cNvCxnSpPr>
          <p:nvPr/>
        </p:nvCxnSpPr>
        <p:spPr>
          <a:xfrm rot="16200000" flipH="1">
            <a:off x="3504975" y="2543158"/>
            <a:ext cx="344264" cy="255916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Cloud 13">
            <a:extLst>
              <a:ext uri="{FF2B5EF4-FFF2-40B4-BE49-F238E27FC236}">
                <a16:creationId xmlns:a16="http://schemas.microsoft.com/office/drawing/2014/main" id="{3CAC9361-7866-0F77-1EDA-88B17A754663}"/>
              </a:ext>
            </a:extLst>
          </p:cNvPr>
          <p:cNvSpPr/>
          <p:nvPr/>
        </p:nvSpPr>
        <p:spPr>
          <a:xfrm>
            <a:off x="3463074" y="3484042"/>
            <a:ext cx="1185569" cy="732464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WIFI Network</a:t>
            </a:r>
            <a:endParaRPr lang="en-SG" sz="1100" b="1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8F081894-E666-B905-7D64-6CEFB60950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87" y="4391553"/>
            <a:ext cx="2158778" cy="985842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93310BE0-CBF8-D1D7-B126-A3E3E0B1EB6E}"/>
              </a:ext>
            </a:extLst>
          </p:cNvPr>
          <p:cNvSpPr/>
          <p:nvPr/>
        </p:nvSpPr>
        <p:spPr>
          <a:xfrm>
            <a:off x="1828983" y="5064812"/>
            <a:ext cx="924720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Client</a:t>
            </a:r>
            <a:endParaRPr lang="en-SG" sz="1050" b="1" dirty="0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E8FB664-1B7B-494B-512B-4FDD4DB64C20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3441750" y="4255367"/>
            <a:ext cx="364534" cy="266534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5DE7D68-B227-7670-DD22-AC68CAED9B50}"/>
              </a:ext>
            </a:extLst>
          </p:cNvPr>
          <p:cNvSpPr txBox="1"/>
          <p:nvPr/>
        </p:nvSpPr>
        <p:spPr>
          <a:xfrm>
            <a:off x="1313987" y="642186"/>
            <a:ext cx="3259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Power Plant Thermal Monitor HMI</a:t>
            </a:r>
            <a:endParaRPr lang="en-SG" sz="1400" b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39948D7-B810-5C11-6E25-C3389F0711F4}"/>
              </a:ext>
            </a:extLst>
          </p:cNvPr>
          <p:cNvSpPr txBox="1"/>
          <p:nvPr/>
        </p:nvSpPr>
        <p:spPr>
          <a:xfrm>
            <a:off x="1202038" y="2374668"/>
            <a:ext cx="36004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Transmission Tower Thermal Monitor HMI</a:t>
            </a:r>
            <a:endParaRPr lang="en-SG" sz="1400" b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4A480A9-1789-3659-4146-48713C7BE749}"/>
              </a:ext>
            </a:extLst>
          </p:cNvPr>
          <p:cNvSpPr txBox="1"/>
          <p:nvPr/>
        </p:nvSpPr>
        <p:spPr>
          <a:xfrm>
            <a:off x="1240927" y="4156589"/>
            <a:ext cx="36004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Power Station Thermal Monitor HMI</a:t>
            </a:r>
            <a:endParaRPr lang="en-SG" sz="1400" b="1" dirty="0"/>
          </a:p>
        </p:txBody>
      </p:sp>
      <p:sp>
        <p:nvSpPr>
          <p:cNvPr id="37" name="Cloud 36">
            <a:extLst>
              <a:ext uri="{FF2B5EF4-FFF2-40B4-BE49-F238E27FC236}">
                <a16:creationId xmlns:a16="http://schemas.microsoft.com/office/drawing/2014/main" id="{90A3FFBD-1B13-3A53-4EE9-C751497BCDC0}"/>
              </a:ext>
            </a:extLst>
          </p:cNvPr>
          <p:cNvSpPr/>
          <p:nvPr/>
        </p:nvSpPr>
        <p:spPr>
          <a:xfrm>
            <a:off x="6783379" y="3545665"/>
            <a:ext cx="1185569" cy="732464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5G Network</a:t>
            </a:r>
            <a:endParaRPr lang="en-SG" sz="1100" b="1" dirty="0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F5ECF4E1-1A49-34D0-538A-0AE83E275A8C}"/>
              </a:ext>
            </a:extLst>
          </p:cNvPr>
          <p:cNvCxnSpPr>
            <a:cxnSpLocks/>
            <a:stCxn id="37" idx="3"/>
            <a:endCxn id="5" idx="3"/>
          </p:cNvCxnSpPr>
          <p:nvPr/>
        </p:nvCxnSpPr>
        <p:spPr>
          <a:xfrm rot="16200000" flipV="1">
            <a:off x="5988621" y="2200001"/>
            <a:ext cx="1418055" cy="135703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31179AC1-EF14-34B9-C781-242DF1041DBD}"/>
              </a:ext>
            </a:extLst>
          </p:cNvPr>
          <p:cNvCxnSpPr>
            <a:cxnSpLocks/>
            <a:endCxn id="8" idx="3"/>
          </p:cNvCxnSpPr>
          <p:nvPr/>
        </p:nvCxnSpPr>
        <p:spPr>
          <a:xfrm flipH="1" flipV="1">
            <a:off x="6019132" y="3994874"/>
            <a:ext cx="8516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C41CF3CB-02CD-7769-4B3F-985A00BAB0BE}"/>
              </a:ext>
            </a:extLst>
          </p:cNvPr>
          <p:cNvCxnSpPr>
            <a:cxnSpLocks/>
            <a:stCxn id="37" idx="1"/>
            <a:endCxn id="11" idx="3"/>
          </p:cNvCxnSpPr>
          <p:nvPr/>
        </p:nvCxnSpPr>
        <p:spPr>
          <a:xfrm rot="5400000">
            <a:off x="5961131" y="4335350"/>
            <a:ext cx="1473035" cy="135703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0" name="Picture 49">
            <a:extLst>
              <a:ext uri="{FF2B5EF4-FFF2-40B4-BE49-F238E27FC236}">
                <a16:creationId xmlns:a16="http://schemas.microsoft.com/office/drawing/2014/main" id="{A22815E9-F477-4C71-3EC3-6AC619CA96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2752" y="1098080"/>
            <a:ext cx="3975271" cy="2142816"/>
          </a:xfrm>
          <a:prstGeom prst="rect">
            <a:avLst/>
          </a:prstGeom>
        </p:spPr>
      </p:pic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86634AE7-4104-8991-FFC2-E31CABF49C72}"/>
              </a:ext>
            </a:extLst>
          </p:cNvPr>
          <p:cNvCxnSpPr>
            <a:stCxn id="50" idx="2"/>
            <a:endCxn id="37" idx="0"/>
          </p:cNvCxnSpPr>
          <p:nvPr/>
        </p:nvCxnSpPr>
        <p:spPr>
          <a:xfrm rot="5400000">
            <a:off x="8408674" y="2800182"/>
            <a:ext cx="671001" cy="155242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4807396-F6F6-8494-36DA-979765C9D933}"/>
              </a:ext>
            </a:extLst>
          </p:cNvPr>
          <p:cNvSpPr txBox="1"/>
          <p:nvPr/>
        </p:nvSpPr>
        <p:spPr>
          <a:xfrm>
            <a:off x="7532751" y="811308"/>
            <a:ext cx="39752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OCC Power Grid Thermal State Monitor HMI</a:t>
            </a:r>
            <a:endParaRPr lang="en-SG" sz="1400" b="1" dirty="0"/>
          </a:p>
        </p:txBody>
      </p:sp>
    </p:spTree>
    <p:extLst>
      <p:ext uri="{BB962C8B-B14F-4D97-AF65-F5344CB8AC3E}">
        <p14:creationId xmlns:p14="http://schemas.microsoft.com/office/powerpoint/2010/main" val="40138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584</TotalTime>
  <Words>427</Words>
  <Application>Microsoft Office PowerPoint</Application>
  <PresentationFormat>Widescreen</PresentationFormat>
  <Paragraphs>143</Paragraphs>
  <Slides>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12</cp:revision>
  <dcterms:created xsi:type="dcterms:W3CDTF">2026-06-19T03:02:39Z</dcterms:created>
  <dcterms:modified xsi:type="dcterms:W3CDTF">2026-06-21T07:02:15Z</dcterms:modified>
</cp:coreProperties>
</file>